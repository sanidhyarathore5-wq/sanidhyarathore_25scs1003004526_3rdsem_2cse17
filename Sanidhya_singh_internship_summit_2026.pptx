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840" y="1257172"/>
            <a:ext cx="10461625" cy="94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333F6F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649" y="2457450"/>
            <a:ext cx="10934700" cy="1694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0841" y="2191289"/>
            <a:ext cx="5967095" cy="157416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447040">
              <a:lnSpc>
                <a:spcPts val="4650"/>
              </a:lnSpc>
              <a:spcBef>
                <a:spcPts val="100"/>
              </a:spcBef>
            </a:pPr>
            <a:r>
              <a:rPr dirty="0" sz="3700" spc="180"/>
              <a:t>Internship</a:t>
            </a:r>
            <a:r>
              <a:rPr dirty="0" sz="3700" spc="-310"/>
              <a:t> </a:t>
            </a:r>
            <a:r>
              <a:rPr dirty="0" sz="3700" spc="365"/>
              <a:t>Summit </a:t>
            </a:r>
            <a:r>
              <a:rPr dirty="0" sz="3700" spc="545"/>
              <a:t>202C</a:t>
            </a:r>
            <a:endParaRPr sz="3700"/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850" spc="-180"/>
              <a:t>C++</a:t>
            </a:r>
            <a:r>
              <a:rPr dirty="0" sz="1850" spc="-165"/>
              <a:t> </a:t>
            </a:r>
            <a:r>
              <a:rPr dirty="0" sz="1850" spc="165"/>
              <a:t>Programming</a:t>
            </a:r>
            <a:r>
              <a:rPr dirty="0" sz="1850" spc="-160"/>
              <a:t> </a:t>
            </a:r>
            <a:r>
              <a:rPr dirty="0" sz="1850" spc="90"/>
              <a:t>Internship</a:t>
            </a:r>
            <a:r>
              <a:rPr dirty="0" sz="1850" spc="-160"/>
              <a:t> </a:t>
            </a:r>
            <a:r>
              <a:rPr dirty="0" sz="1850" spc="280"/>
              <a:t>at</a:t>
            </a:r>
            <a:r>
              <a:rPr dirty="0" sz="1850" spc="-215"/>
              <a:t> </a:t>
            </a:r>
            <a:r>
              <a:rPr dirty="0" sz="1850" spc="114"/>
              <a:t>Thiranex</a:t>
            </a:r>
            <a:endParaRPr sz="1850"/>
          </a:p>
        </p:txBody>
      </p:sp>
      <p:sp>
        <p:nvSpPr>
          <p:cNvPr id="4" name="object 4"/>
          <p:cNvSpPr txBox="1"/>
          <p:nvPr/>
        </p:nvSpPr>
        <p:spPr>
          <a:xfrm>
            <a:off x="5466258" y="4065523"/>
            <a:ext cx="5130800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Sanidhya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Singh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—</a:t>
            </a:r>
            <a:r>
              <a:rPr dirty="0" sz="1450" spc="6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IILM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University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·</a:t>
            </a:r>
            <a:r>
              <a:rPr dirty="0" sz="1450" spc="6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Intern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–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C++</a:t>
            </a:r>
            <a:r>
              <a:rPr dirty="0" sz="1450" spc="6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Programming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2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65"/>
              <a:t>About</a:t>
            </a:r>
            <a:r>
              <a:rPr dirty="0" spc="-335"/>
              <a:t> </a:t>
            </a:r>
            <a:r>
              <a:rPr dirty="0" spc="280"/>
              <a:t>the</a:t>
            </a:r>
            <a:r>
              <a:rPr dirty="0" spc="-265"/>
              <a:t> </a:t>
            </a:r>
            <a:r>
              <a:rPr dirty="0" spc="140"/>
              <a:t>Internship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2590800"/>
            <a:ext cx="1009649" cy="628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89918" y="2580004"/>
            <a:ext cx="2207895" cy="16046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40" b="1">
                <a:solidFill>
                  <a:srgbClr val="333F6F"/>
                </a:solidFill>
                <a:latin typeface="Verdana"/>
                <a:cs typeface="Verdana"/>
              </a:rPr>
              <a:t>Organization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7900"/>
              </a:lnSpc>
              <a:spcBef>
                <a:spcPts val="59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Thiranex — a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software-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focused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team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providing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industry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mentorship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5">
                <a:solidFill>
                  <a:srgbClr val="333F6F"/>
                </a:solidFill>
                <a:latin typeface="Open Sans"/>
                <a:cs typeface="Open Sans"/>
              </a:rPr>
              <a:t>and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project-driven</a:t>
            </a:r>
            <a:r>
              <a:rPr dirty="0" sz="1450" spc="1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learning.</a:t>
            </a:r>
            <a:endParaRPr sz="1450">
              <a:latin typeface="Open Sans"/>
              <a:cs typeface="Open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2450" y="2590800"/>
            <a:ext cx="1009649" cy="6286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91571" y="2580004"/>
            <a:ext cx="2226310" cy="249999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723265">
              <a:lnSpc>
                <a:spcPct val="104700"/>
              </a:lnSpc>
              <a:spcBef>
                <a:spcPts val="5"/>
              </a:spcBef>
            </a:pPr>
            <a:r>
              <a:rPr dirty="0" sz="1850" spc="85" b="1">
                <a:solidFill>
                  <a:srgbClr val="333F6F"/>
                </a:solidFill>
                <a:latin typeface="Verdana"/>
                <a:cs typeface="Verdana"/>
              </a:rPr>
              <a:t>Role</a:t>
            </a:r>
            <a:r>
              <a:rPr dirty="0" sz="1850" spc="-17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90" b="1">
                <a:solidFill>
                  <a:srgbClr val="333F6F"/>
                </a:solidFill>
                <a:latin typeface="Verdana"/>
                <a:cs typeface="Verdana"/>
              </a:rPr>
              <a:t>&amp; </a:t>
            </a:r>
            <a:r>
              <a:rPr dirty="0" sz="1850" spc="204" b="1">
                <a:solidFill>
                  <a:srgbClr val="333F6F"/>
                </a:solidFill>
                <a:latin typeface="Verdana"/>
                <a:cs typeface="Verdana"/>
              </a:rPr>
              <a:t>Approach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7100"/>
              </a:lnSpc>
              <a:spcBef>
                <a:spcPts val="61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Intern</a:t>
            </a:r>
            <a:r>
              <a:rPr dirty="0" sz="1450" spc="4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–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5">
                <a:solidFill>
                  <a:srgbClr val="333F6F"/>
                </a:solidFill>
                <a:latin typeface="Open Sans"/>
                <a:cs typeface="Open Sans"/>
              </a:rPr>
              <a:t>C++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Programming.</a:t>
            </a:r>
            <a:r>
              <a:rPr dirty="0" sz="1450" spc="1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Remote,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project-based</a:t>
            </a:r>
            <a:r>
              <a:rPr dirty="0" sz="1450" spc="1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with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hands-on</a:t>
            </a:r>
            <a:r>
              <a:rPr dirty="0" sz="1450" spc="114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software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development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1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guided mentorship.</a:t>
            </a:r>
            <a:endParaRPr sz="1450">
              <a:latin typeface="Open Sans"/>
              <a:cs typeface="Open San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7675" y="2590800"/>
            <a:ext cx="1000124" cy="628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293224" y="2580004"/>
            <a:ext cx="2096770" cy="1899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20" b="1">
                <a:solidFill>
                  <a:srgbClr val="333F6F"/>
                </a:solidFill>
                <a:latin typeface="Verdana"/>
                <a:cs typeface="Verdana"/>
              </a:rPr>
              <a:t>Objective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6900"/>
              </a:lnSpc>
              <a:spcBef>
                <a:spcPts val="61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Improve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programming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fundamentals,</a:t>
            </a:r>
            <a:r>
              <a:rPr dirty="0" sz="1450" spc="1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problem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solving,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practical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application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of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5">
                <a:solidFill>
                  <a:srgbClr val="333F6F"/>
                </a:solidFill>
                <a:latin typeface="Open Sans"/>
                <a:cs typeface="Open Sans"/>
              </a:rPr>
              <a:t>C++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concepts.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50"/>
              <a:t>Internship</a:t>
            </a:r>
            <a:r>
              <a:rPr dirty="0" spc="-250"/>
              <a:t> </a:t>
            </a:r>
            <a:r>
              <a:rPr dirty="0" spc="229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7224" y="2200274"/>
            <a:ext cx="2581275" cy="2009775"/>
            <a:chOff x="657224" y="2200274"/>
            <a:chExt cx="2581275" cy="2009775"/>
          </a:xfrm>
        </p:grpSpPr>
        <p:sp>
          <p:nvSpPr>
            <p:cNvPr id="4" name="object 4"/>
            <p:cNvSpPr/>
            <p:nvPr/>
          </p:nvSpPr>
          <p:spPr>
            <a:xfrm>
              <a:off x="661987" y="2205037"/>
              <a:ext cx="2571750" cy="2000250"/>
            </a:xfrm>
            <a:custGeom>
              <a:avLst/>
              <a:gdLst/>
              <a:ahLst/>
              <a:cxnLst/>
              <a:rect l="l" t="t" r="r" b="b"/>
              <a:pathLst>
                <a:path w="2571750" h="2000250">
                  <a:moveTo>
                    <a:pt x="2514385" y="2000249"/>
                  </a:moveTo>
                  <a:lnTo>
                    <a:pt x="57364" y="2000249"/>
                  </a:lnTo>
                  <a:lnTo>
                    <a:pt x="53371" y="1999856"/>
                  </a:lnTo>
                  <a:lnTo>
                    <a:pt x="15131" y="1979416"/>
                  </a:lnTo>
                  <a:lnTo>
                    <a:pt x="0" y="1942885"/>
                  </a:lnTo>
                  <a:lnTo>
                    <a:pt x="0" y="1938853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2514385" y="0"/>
                  </a:lnTo>
                  <a:lnTo>
                    <a:pt x="2550916" y="15131"/>
                  </a:lnTo>
                  <a:lnTo>
                    <a:pt x="2571356" y="53371"/>
                  </a:lnTo>
                  <a:lnTo>
                    <a:pt x="2571749" y="57364"/>
                  </a:lnTo>
                  <a:lnTo>
                    <a:pt x="2571749" y="1942885"/>
                  </a:lnTo>
                  <a:lnTo>
                    <a:pt x="2556617" y="1979416"/>
                  </a:lnTo>
                  <a:lnTo>
                    <a:pt x="2518377" y="1999856"/>
                  </a:lnTo>
                  <a:lnTo>
                    <a:pt x="2514385" y="2000249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1987" y="2205037"/>
              <a:ext cx="2571750" cy="2000250"/>
            </a:xfrm>
            <a:custGeom>
              <a:avLst/>
              <a:gdLst/>
              <a:ahLst/>
              <a:cxnLst/>
              <a:rect l="l" t="t" r="r" b="b"/>
              <a:pathLst>
                <a:path w="2571750" h="2000250">
                  <a:moveTo>
                    <a:pt x="0" y="193885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79" y="49417"/>
                  </a:lnTo>
                  <a:lnTo>
                    <a:pt x="1966" y="45463"/>
                  </a:lnTo>
                  <a:lnTo>
                    <a:pt x="3130" y="41624"/>
                  </a:lnTo>
                  <a:lnTo>
                    <a:pt x="4673" y="37900"/>
                  </a:lnTo>
                  <a:lnTo>
                    <a:pt x="6216" y="34175"/>
                  </a:lnTo>
                  <a:lnTo>
                    <a:pt x="8107" y="30637"/>
                  </a:lnTo>
                  <a:lnTo>
                    <a:pt x="10346" y="27285"/>
                  </a:lnTo>
                  <a:lnTo>
                    <a:pt x="12586" y="23933"/>
                  </a:lnTo>
                  <a:lnTo>
                    <a:pt x="15131" y="20832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6"/>
                  </a:lnTo>
                  <a:lnTo>
                    <a:pt x="27285" y="10346"/>
                  </a:lnTo>
                  <a:lnTo>
                    <a:pt x="30637" y="8107"/>
                  </a:lnTo>
                  <a:lnTo>
                    <a:pt x="34176" y="6215"/>
                  </a:lnTo>
                  <a:lnTo>
                    <a:pt x="37900" y="4673"/>
                  </a:lnTo>
                  <a:lnTo>
                    <a:pt x="41624" y="3130"/>
                  </a:lnTo>
                  <a:lnTo>
                    <a:pt x="45464" y="1966"/>
                  </a:lnTo>
                  <a:lnTo>
                    <a:pt x="49417" y="1179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61395" y="0"/>
                  </a:lnTo>
                  <a:lnTo>
                    <a:pt x="2510354" y="0"/>
                  </a:lnTo>
                  <a:lnTo>
                    <a:pt x="2514385" y="0"/>
                  </a:lnTo>
                  <a:lnTo>
                    <a:pt x="2518377" y="393"/>
                  </a:lnTo>
                  <a:lnTo>
                    <a:pt x="2522331" y="1179"/>
                  </a:lnTo>
                  <a:lnTo>
                    <a:pt x="2526285" y="1966"/>
                  </a:lnTo>
                  <a:lnTo>
                    <a:pt x="2530124" y="3130"/>
                  </a:lnTo>
                  <a:lnTo>
                    <a:pt x="2533848" y="4673"/>
                  </a:lnTo>
                  <a:lnTo>
                    <a:pt x="2537573" y="6215"/>
                  </a:lnTo>
                  <a:lnTo>
                    <a:pt x="2541111" y="8106"/>
                  </a:lnTo>
                  <a:lnTo>
                    <a:pt x="2544463" y="10346"/>
                  </a:lnTo>
                  <a:lnTo>
                    <a:pt x="2547814" y="12586"/>
                  </a:lnTo>
                  <a:lnTo>
                    <a:pt x="2569783" y="45463"/>
                  </a:lnTo>
                  <a:lnTo>
                    <a:pt x="2571749" y="61395"/>
                  </a:lnTo>
                  <a:lnTo>
                    <a:pt x="2571749" y="1938854"/>
                  </a:lnTo>
                  <a:lnTo>
                    <a:pt x="2561402" y="1972963"/>
                  </a:lnTo>
                  <a:lnTo>
                    <a:pt x="2559162" y="1976315"/>
                  </a:lnTo>
                  <a:lnTo>
                    <a:pt x="2526285" y="1998283"/>
                  </a:lnTo>
                  <a:lnTo>
                    <a:pt x="2522331" y="1999069"/>
                  </a:lnTo>
                  <a:lnTo>
                    <a:pt x="2518377" y="1999856"/>
                  </a:lnTo>
                  <a:lnTo>
                    <a:pt x="2514385" y="2000249"/>
                  </a:lnTo>
                  <a:lnTo>
                    <a:pt x="2510354" y="2000249"/>
                  </a:lnTo>
                  <a:lnTo>
                    <a:pt x="61395" y="2000249"/>
                  </a:lnTo>
                  <a:lnTo>
                    <a:pt x="57364" y="2000249"/>
                  </a:lnTo>
                  <a:lnTo>
                    <a:pt x="53371" y="1999856"/>
                  </a:lnTo>
                  <a:lnTo>
                    <a:pt x="17982" y="1982266"/>
                  </a:lnTo>
                  <a:lnTo>
                    <a:pt x="15131" y="1979416"/>
                  </a:lnTo>
                  <a:lnTo>
                    <a:pt x="4673" y="1962348"/>
                  </a:lnTo>
                  <a:lnTo>
                    <a:pt x="3130" y="1958624"/>
                  </a:lnTo>
                  <a:lnTo>
                    <a:pt x="1966" y="1954785"/>
                  </a:lnTo>
                  <a:lnTo>
                    <a:pt x="1179" y="1950831"/>
                  </a:lnTo>
                  <a:lnTo>
                    <a:pt x="393" y="1946878"/>
                  </a:lnTo>
                  <a:lnTo>
                    <a:pt x="0" y="1942885"/>
                  </a:lnTo>
                  <a:lnTo>
                    <a:pt x="0" y="1938854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47377" y="2389504"/>
            <a:ext cx="2193925" cy="129032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5"/>
              </a:spcBef>
            </a:pPr>
            <a:r>
              <a:rPr dirty="0" sz="1850" spc="160" b="1">
                <a:solidFill>
                  <a:srgbClr val="333F6F"/>
                </a:solidFill>
                <a:latin typeface="Verdana"/>
                <a:cs typeface="Verdana"/>
              </a:rPr>
              <a:t>Strengthen </a:t>
            </a:r>
            <a:r>
              <a:rPr dirty="0" sz="1850" spc="180" b="1">
                <a:solidFill>
                  <a:srgbClr val="333F6F"/>
                </a:solidFill>
                <a:latin typeface="Verdana"/>
                <a:cs typeface="Verdana"/>
              </a:rPr>
              <a:t>Fundamentals</a:t>
            </a:r>
            <a:endParaRPr sz="1850">
              <a:latin typeface="Verdana"/>
              <a:cs typeface="Verdana"/>
            </a:endParaRPr>
          </a:p>
          <a:p>
            <a:pPr marL="12700" marR="665480">
              <a:lnSpc>
                <a:spcPct val="137900"/>
              </a:lnSpc>
              <a:spcBef>
                <a:spcPts val="59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Deepen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core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5">
                <a:solidFill>
                  <a:srgbClr val="333F6F"/>
                </a:solidFill>
                <a:latin typeface="Open Sans"/>
                <a:cs typeface="Open Sans"/>
              </a:rPr>
              <a:t>C++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concepts.</a:t>
            </a:r>
            <a:endParaRPr sz="1450">
              <a:latin typeface="Open Sans"/>
              <a:cs typeface="Open San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28999" y="2200274"/>
            <a:ext cx="2571750" cy="2009775"/>
            <a:chOff x="3428999" y="2200274"/>
            <a:chExt cx="2571750" cy="2009775"/>
          </a:xfrm>
        </p:grpSpPr>
        <p:sp>
          <p:nvSpPr>
            <p:cNvPr id="8" name="object 8"/>
            <p:cNvSpPr/>
            <p:nvPr/>
          </p:nvSpPr>
          <p:spPr>
            <a:xfrm>
              <a:off x="3433762" y="2205037"/>
              <a:ext cx="2562225" cy="2000250"/>
            </a:xfrm>
            <a:custGeom>
              <a:avLst/>
              <a:gdLst/>
              <a:ahLst/>
              <a:cxnLst/>
              <a:rect l="l" t="t" r="r" b="b"/>
              <a:pathLst>
                <a:path w="2562225" h="2000250">
                  <a:moveTo>
                    <a:pt x="2504860" y="2000249"/>
                  </a:moveTo>
                  <a:lnTo>
                    <a:pt x="57364" y="2000249"/>
                  </a:lnTo>
                  <a:lnTo>
                    <a:pt x="53371" y="1999856"/>
                  </a:lnTo>
                  <a:lnTo>
                    <a:pt x="15131" y="1979416"/>
                  </a:lnTo>
                  <a:lnTo>
                    <a:pt x="0" y="1942885"/>
                  </a:lnTo>
                  <a:lnTo>
                    <a:pt x="0" y="1938853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2504860" y="0"/>
                  </a:lnTo>
                  <a:lnTo>
                    <a:pt x="2541391" y="15131"/>
                  </a:lnTo>
                  <a:lnTo>
                    <a:pt x="2561831" y="53371"/>
                  </a:lnTo>
                  <a:lnTo>
                    <a:pt x="2562224" y="57364"/>
                  </a:lnTo>
                  <a:lnTo>
                    <a:pt x="2562224" y="1942885"/>
                  </a:lnTo>
                  <a:lnTo>
                    <a:pt x="2547092" y="1979416"/>
                  </a:lnTo>
                  <a:lnTo>
                    <a:pt x="2508852" y="1999856"/>
                  </a:lnTo>
                  <a:lnTo>
                    <a:pt x="2504860" y="2000249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33762" y="2205037"/>
              <a:ext cx="2562225" cy="2000250"/>
            </a:xfrm>
            <a:custGeom>
              <a:avLst/>
              <a:gdLst/>
              <a:ahLst/>
              <a:cxnLst/>
              <a:rect l="l" t="t" r="r" b="b"/>
              <a:pathLst>
                <a:path w="2562225" h="2000250">
                  <a:moveTo>
                    <a:pt x="0" y="193885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79" y="49417"/>
                  </a:lnTo>
                  <a:lnTo>
                    <a:pt x="1965" y="45463"/>
                  </a:lnTo>
                  <a:lnTo>
                    <a:pt x="3130" y="41624"/>
                  </a:lnTo>
                  <a:lnTo>
                    <a:pt x="4673" y="37900"/>
                  </a:lnTo>
                  <a:lnTo>
                    <a:pt x="6215" y="34175"/>
                  </a:lnTo>
                  <a:lnTo>
                    <a:pt x="8107" y="30637"/>
                  </a:lnTo>
                  <a:lnTo>
                    <a:pt x="10346" y="27285"/>
                  </a:lnTo>
                  <a:lnTo>
                    <a:pt x="12586" y="23933"/>
                  </a:lnTo>
                  <a:lnTo>
                    <a:pt x="15131" y="20832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6"/>
                  </a:lnTo>
                  <a:lnTo>
                    <a:pt x="27285" y="10346"/>
                  </a:lnTo>
                  <a:lnTo>
                    <a:pt x="30637" y="8107"/>
                  </a:lnTo>
                  <a:lnTo>
                    <a:pt x="34175" y="6215"/>
                  </a:lnTo>
                  <a:lnTo>
                    <a:pt x="37899" y="4673"/>
                  </a:lnTo>
                  <a:lnTo>
                    <a:pt x="41624" y="3130"/>
                  </a:lnTo>
                  <a:lnTo>
                    <a:pt x="45463" y="1966"/>
                  </a:lnTo>
                  <a:lnTo>
                    <a:pt x="49417" y="1179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61395" y="0"/>
                  </a:lnTo>
                  <a:lnTo>
                    <a:pt x="2500829" y="0"/>
                  </a:lnTo>
                  <a:lnTo>
                    <a:pt x="2504860" y="0"/>
                  </a:lnTo>
                  <a:lnTo>
                    <a:pt x="2508852" y="393"/>
                  </a:lnTo>
                  <a:lnTo>
                    <a:pt x="2512806" y="1179"/>
                  </a:lnTo>
                  <a:lnTo>
                    <a:pt x="2516760" y="1966"/>
                  </a:lnTo>
                  <a:lnTo>
                    <a:pt x="2520599" y="3130"/>
                  </a:lnTo>
                  <a:lnTo>
                    <a:pt x="2524323" y="4673"/>
                  </a:lnTo>
                  <a:lnTo>
                    <a:pt x="2528047" y="6215"/>
                  </a:lnTo>
                  <a:lnTo>
                    <a:pt x="2544242" y="17982"/>
                  </a:lnTo>
                  <a:lnTo>
                    <a:pt x="2547092" y="20832"/>
                  </a:lnTo>
                  <a:lnTo>
                    <a:pt x="2549637" y="23933"/>
                  </a:lnTo>
                  <a:lnTo>
                    <a:pt x="2551877" y="27285"/>
                  </a:lnTo>
                  <a:lnTo>
                    <a:pt x="2554117" y="30637"/>
                  </a:lnTo>
                  <a:lnTo>
                    <a:pt x="2562224" y="61395"/>
                  </a:lnTo>
                  <a:lnTo>
                    <a:pt x="2562224" y="1938854"/>
                  </a:lnTo>
                  <a:lnTo>
                    <a:pt x="2551877" y="1972963"/>
                  </a:lnTo>
                  <a:lnTo>
                    <a:pt x="2549637" y="1976315"/>
                  </a:lnTo>
                  <a:lnTo>
                    <a:pt x="2516760" y="1998283"/>
                  </a:lnTo>
                  <a:lnTo>
                    <a:pt x="2504860" y="2000249"/>
                  </a:lnTo>
                  <a:lnTo>
                    <a:pt x="2500829" y="2000249"/>
                  </a:lnTo>
                  <a:lnTo>
                    <a:pt x="61395" y="2000249"/>
                  </a:lnTo>
                  <a:lnTo>
                    <a:pt x="57364" y="2000249"/>
                  </a:lnTo>
                  <a:lnTo>
                    <a:pt x="53371" y="1999856"/>
                  </a:lnTo>
                  <a:lnTo>
                    <a:pt x="49417" y="1999069"/>
                  </a:lnTo>
                  <a:lnTo>
                    <a:pt x="45463" y="1998283"/>
                  </a:lnTo>
                  <a:lnTo>
                    <a:pt x="17982" y="1982266"/>
                  </a:lnTo>
                  <a:lnTo>
                    <a:pt x="15131" y="1979416"/>
                  </a:lnTo>
                  <a:lnTo>
                    <a:pt x="4672" y="1962348"/>
                  </a:lnTo>
                  <a:lnTo>
                    <a:pt x="3130" y="1958624"/>
                  </a:lnTo>
                  <a:lnTo>
                    <a:pt x="1965" y="1954785"/>
                  </a:lnTo>
                  <a:lnTo>
                    <a:pt x="1179" y="1950831"/>
                  </a:lnTo>
                  <a:lnTo>
                    <a:pt x="393" y="1946878"/>
                  </a:lnTo>
                  <a:lnTo>
                    <a:pt x="0" y="1942885"/>
                  </a:lnTo>
                  <a:lnTo>
                    <a:pt x="0" y="1938854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11860" y="2389504"/>
            <a:ext cx="1990089" cy="9950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85" b="1">
                <a:solidFill>
                  <a:srgbClr val="333F6F"/>
                </a:solidFill>
                <a:latin typeface="Verdana"/>
                <a:cs typeface="Verdana"/>
              </a:rPr>
              <a:t>Apply</a:t>
            </a:r>
            <a:r>
              <a:rPr dirty="0" sz="1850" spc="-27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60" b="1">
                <a:solidFill>
                  <a:srgbClr val="333F6F"/>
                </a:solidFill>
                <a:latin typeface="Verdana"/>
                <a:cs typeface="Verdana"/>
              </a:rPr>
              <a:t>Theory</a:t>
            </a:r>
            <a:endParaRPr sz="1850">
              <a:latin typeface="Verdana"/>
              <a:cs typeface="Verdana"/>
            </a:endParaRPr>
          </a:p>
          <a:p>
            <a:pPr marL="12700" marR="148590">
              <a:lnSpc>
                <a:spcPct val="137900"/>
              </a:lnSpc>
              <a:spcBef>
                <a:spcPts val="59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Build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real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projects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5">
                <a:solidFill>
                  <a:srgbClr val="333F6F"/>
                </a:solidFill>
                <a:latin typeface="Open Sans"/>
                <a:cs typeface="Open Sans"/>
              </a:rPr>
              <a:t>to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reinforce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learning.</a:t>
            </a:r>
            <a:endParaRPr sz="1450">
              <a:latin typeface="Open Sans"/>
              <a:cs typeface="Open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91248" y="2200274"/>
            <a:ext cx="2571750" cy="2009775"/>
            <a:chOff x="6191248" y="2200274"/>
            <a:chExt cx="2571750" cy="2009775"/>
          </a:xfrm>
        </p:grpSpPr>
        <p:sp>
          <p:nvSpPr>
            <p:cNvPr id="12" name="object 12"/>
            <p:cNvSpPr/>
            <p:nvPr/>
          </p:nvSpPr>
          <p:spPr>
            <a:xfrm>
              <a:off x="6196011" y="2205037"/>
              <a:ext cx="2562225" cy="2000250"/>
            </a:xfrm>
            <a:custGeom>
              <a:avLst/>
              <a:gdLst/>
              <a:ahLst/>
              <a:cxnLst/>
              <a:rect l="l" t="t" r="r" b="b"/>
              <a:pathLst>
                <a:path w="2562225" h="2000250">
                  <a:moveTo>
                    <a:pt x="2504861" y="2000249"/>
                  </a:moveTo>
                  <a:lnTo>
                    <a:pt x="57364" y="2000249"/>
                  </a:lnTo>
                  <a:lnTo>
                    <a:pt x="53371" y="1999856"/>
                  </a:lnTo>
                  <a:lnTo>
                    <a:pt x="15132" y="1979416"/>
                  </a:lnTo>
                  <a:lnTo>
                    <a:pt x="0" y="1942885"/>
                  </a:lnTo>
                  <a:lnTo>
                    <a:pt x="0" y="1938853"/>
                  </a:lnTo>
                  <a:lnTo>
                    <a:pt x="0" y="57364"/>
                  </a:lnTo>
                  <a:lnTo>
                    <a:pt x="15132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2504861" y="0"/>
                  </a:lnTo>
                  <a:lnTo>
                    <a:pt x="2541391" y="15131"/>
                  </a:lnTo>
                  <a:lnTo>
                    <a:pt x="2561831" y="53371"/>
                  </a:lnTo>
                  <a:lnTo>
                    <a:pt x="2562224" y="57364"/>
                  </a:lnTo>
                  <a:lnTo>
                    <a:pt x="2562224" y="1942885"/>
                  </a:lnTo>
                  <a:lnTo>
                    <a:pt x="2547092" y="1979416"/>
                  </a:lnTo>
                  <a:lnTo>
                    <a:pt x="2508853" y="1999856"/>
                  </a:lnTo>
                  <a:lnTo>
                    <a:pt x="2504861" y="2000249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96011" y="2205037"/>
              <a:ext cx="2562225" cy="2000250"/>
            </a:xfrm>
            <a:custGeom>
              <a:avLst/>
              <a:gdLst/>
              <a:ahLst/>
              <a:cxnLst/>
              <a:rect l="l" t="t" r="r" b="b"/>
              <a:pathLst>
                <a:path w="2562225" h="2000250">
                  <a:moveTo>
                    <a:pt x="0" y="193885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80" y="49417"/>
                  </a:lnTo>
                  <a:lnTo>
                    <a:pt x="1966" y="45463"/>
                  </a:lnTo>
                  <a:lnTo>
                    <a:pt x="3130" y="41624"/>
                  </a:lnTo>
                  <a:lnTo>
                    <a:pt x="4672" y="37900"/>
                  </a:lnTo>
                  <a:lnTo>
                    <a:pt x="6215" y="34175"/>
                  </a:lnTo>
                  <a:lnTo>
                    <a:pt x="8107" y="30637"/>
                  </a:lnTo>
                  <a:lnTo>
                    <a:pt x="10347" y="27285"/>
                  </a:lnTo>
                  <a:lnTo>
                    <a:pt x="12587" y="23933"/>
                  </a:lnTo>
                  <a:lnTo>
                    <a:pt x="15132" y="20832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6"/>
                  </a:lnTo>
                  <a:lnTo>
                    <a:pt x="27286" y="10346"/>
                  </a:lnTo>
                  <a:lnTo>
                    <a:pt x="30637" y="8107"/>
                  </a:lnTo>
                  <a:lnTo>
                    <a:pt x="34175" y="6215"/>
                  </a:lnTo>
                  <a:lnTo>
                    <a:pt x="37900" y="4673"/>
                  </a:lnTo>
                  <a:lnTo>
                    <a:pt x="41625" y="3130"/>
                  </a:lnTo>
                  <a:lnTo>
                    <a:pt x="45464" y="1966"/>
                  </a:lnTo>
                  <a:lnTo>
                    <a:pt x="49417" y="1179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61396" y="0"/>
                  </a:lnTo>
                  <a:lnTo>
                    <a:pt x="2500829" y="0"/>
                  </a:lnTo>
                  <a:lnTo>
                    <a:pt x="2504861" y="0"/>
                  </a:lnTo>
                  <a:lnTo>
                    <a:pt x="2508853" y="393"/>
                  </a:lnTo>
                  <a:lnTo>
                    <a:pt x="2512806" y="1179"/>
                  </a:lnTo>
                  <a:lnTo>
                    <a:pt x="2516760" y="1966"/>
                  </a:lnTo>
                  <a:lnTo>
                    <a:pt x="2520599" y="3130"/>
                  </a:lnTo>
                  <a:lnTo>
                    <a:pt x="2524324" y="4673"/>
                  </a:lnTo>
                  <a:lnTo>
                    <a:pt x="2528048" y="6215"/>
                  </a:lnTo>
                  <a:lnTo>
                    <a:pt x="2531586" y="8106"/>
                  </a:lnTo>
                  <a:lnTo>
                    <a:pt x="2534938" y="10346"/>
                  </a:lnTo>
                  <a:lnTo>
                    <a:pt x="2538290" y="12586"/>
                  </a:lnTo>
                  <a:lnTo>
                    <a:pt x="2551876" y="27285"/>
                  </a:lnTo>
                  <a:lnTo>
                    <a:pt x="2554116" y="30637"/>
                  </a:lnTo>
                  <a:lnTo>
                    <a:pt x="2562225" y="61395"/>
                  </a:lnTo>
                  <a:lnTo>
                    <a:pt x="2562225" y="1938854"/>
                  </a:lnTo>
                  <a:lnTo>
                    <a:pt x="2551876" y="1972963"/>
                  </a:lnTo>
                  <a:lnTo>
                    <a:pt x="2549637" y="1976315"/>
                  </a:lnTo>
                  <a:lnTo>
                    <a:pt x="2534938" y="1989902"/>
                  </a:lnTo>
                  <a:lnTo>
                    <a:pt x="2531586" y="1992141"/>
                  </a:lnTo>
                  <a:lnTo>
                    <a:pt x="2528048" y="1994033"/>
                  </a:lnTo>
                  <a:lnTo>
                    <a:pt x="2524323" y="1995576"/>
                  </a:lnTo>
                  <a:lnTo>
                    <a:pt x="2520599" y="1997118"/>
                  </a:lnTo>
                  <a:lnTo>
                    <a:pt x="2516760" y="1998283"/>
                  </a:lnTo>
                  <a:lnTo>
                    <a:pt x="2512806" y="1999069"/>
                  </a:lnTo>
                  <a:lnTo>
                    <a:pt x="2508853" y="1999856"/>
                  </a:lnTo>
                  <a:lnTo>
                    <a:pt x="2504861" y="2000249"/>
                  </a:lnTo>
                  <a:lnTo>
                    <a:pt x="2500829" y="2000249"/>
                  </a:lnTo>
                  <a:lnTo>
                    <a:pt x="61396" y="2000249"/>
                  </a:lnTo>
                  <a:lnTo>
                    <a:pt x="57364" y="2000249"/>
                  </a:lnTo>
                  <a:lnTo>
                    <a:pt x="53371" y="1999856"/>
                  </a:lnTo>
                  <a:lnTo>
                    <a:pt x="27286" y="1989902"/>
                  </a:lnTo>
                  <a:lnTo>
                    <a:pt x="23934" y="1987662"/>
                  </a:lnTo>
                  <a:lnTo>
                    <a:pt x="20832" y="1985117"/>
                  </a:lnTo>
                  <a:lnTo>
                    <a:pt x="17982" y="1982266"/>
                  </a:lnTo>
                  <a:lnTo>
                    <a:pt x="15132" y="1979416"/>
                  </a:lnTo>
                  <a:lnTo>
                    <a:pt x="12586" y="1976314"/>
                  </a:lnTo>
                  <a:lnTo>
                    <a:pt x="10346" y="1972963"/>
                  </a:lnTo>
                  <a:lnTo>
                    <a:pt x="8106" y="1969611"/>
                  </a:lnTo>
                  <a:lnTo>
                    <a:pt x="6215" y="1966073"/>
                  </a:lnTo>
                  <a:lnTo>
                    <a:pt x="4672" y="1962348"/>
                  </a:lnTo>
                  <a:lnTo>
                    <a:pt x="3130" y="1958624"/>
                  </a:lnTo>
                  <a:lnTo>
                    <a:pt x="1966" y="1954785"/>
                  </a:lnTo>
                  <a:lnTo>
                    <a:pt x="1180" y="1950831"/>
                  </a:lnTo>
                  <a:lnTo>
                    <a:pt x="393" y="1946878"/>
                  </a:lnTo>
                  <a:lnTo>
                    <a:pt x="0" y="1942885"/>
                  </a:lnTo>
                  <a:lnTo>
                    <a:pt x="0" y="1938854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376342" y="2389504"/>
            <a:ext cx="1886585" cy="158559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634365">
              <a:lnSpc>
                <a:spcPct val="104700"/>
              </a:lnSpc>
              <a:spcBef>
                <a:spcPts val="5"/>
              </a:spcBef>
            </a:pPr>
            <a:r>
              <a:rPr dirty="0" sz="1850" spc="125" b="1">
                <a:solidFill>
                  <a:srgbClr val="333F6F"/>
                </a:solidFill>
                <a:latin typeface="Verdana"/>
                <a:cs typeface="Verdana"/>
              </a:rPr>
              <a:t>Problem </a:t>
            </a:r>
            <a:r>
              <a:rPr dirty="0" sz="1850" spc="114" b="1">
                <a:solidFill>
                  <a:srgbClr val="333F6F"/>
                </a:solidFill>
                <a:latin typeface="Verdana"/>
                <a:cs typeface="Verdana"/>
              </a:rPr>
              <a:t>Solving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5800"/>
              </a:lnSpc>
              <a:spcBef>
                <a:spcPts val="63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Improve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logic,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algorithms</a:t>
            </a:r>
            <a:r>
              <a:rPr dirty="0" sz="1450" spc="13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5">
                <a:solidFill>
                  <a:srgbClr val="333F6F"/>
                </a:solidFill>
                <a:latin typeface="Open Sans"/>
                <a:cs typeface="Open Sans"/>
              </a:rPr>
              <a:t>and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debugging</a:t>
            </a:r>
            <a:r>
              <a:rPr dirty="0" sz="1450" spc="11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approach.</a:t>
            </a:r>
            <a:endParaRPr sz="1450">
              <a:latin typeface="Open Sans"/>
              <a:cs typeface="Open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953498" y="2200274"/>
            <a:ext cx="2581275" cy="2009775"/>
            <a:chOff x="8953498" y="2200274"/>
            <a:chExt cx="2581275" cy="2009775"/>
          </a:xfrm>
        </p:grpSpPr>
        <p:sp>
          <p:nvSpPr>
            <p:cNvPr id="16" name="object 16"/>
            <p:cNvSpPr/>
            <p:nvPr/>
          </p:nvSpPr>
          <p:spPr>
            <a:xfrm>
              <a:off x="8958260" y="2205037"/>
              <a:ext cx="2571750" cy="2000250"/>
            </a:xfrm>
            <a:custGeom>
              <a:avLst/>
              <a:gdLst/>
              <a:ahLst/>
              <a:cxnLst/>
              <a:rect l="l" t="t" r="r" b="b"/>
              <a:pathLst>
                <a:path w="2571750" h="2000250">
                  <a:moveTo>
                    <a:pt x="2514386" y="2000249"/>
                  </a:moveTo>
                  <a:lnTo>
                    <a:pt x="57365" y="2000249"/>
                  </a:lnTo>
                  <a:lnTo>
                    <a:pt x="53372" y="1999856"/>
                  </a:lnTo>
                  <a:lnTo>
                    <a:pt x="15131" y="1979416"/>
                  </a:lnTo>
                  <a:lnTo>
                    <a:pt x="0" y="1942885"/>
                  </a:lnTo>
                  <a:lnTo>
                    <a:pt x="0" y="1938853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2" y="393"/>
                  </a:lnTo>
                  <a:lnTo>
                    <a:pt x="57365" y="0"/>
                  </a:lnTo>
                  <a:lnTo>
                    <a:pt x="2514386" y="0"/>
                  </a:lnTo>
                  <a:lnTo>
                    <a:pt x="2550916" y="15131"/>
                  </a:lnTo>
                  <a:lnTo>
                    <a:pt x="2571355" y="53371"/>
                  </a:lnTo>
                  <a:lnTo>
                    <a:pt x="2571749" y="57364"/>
                  </a:lnTo>
                  <a:lnTo>
                    <a:pt x="2571749" y="1942885"/>
                  </a:lnTo>
                  <a:lnTo>
                    <a:pt x="2556617" y="1979416"/>
                  </a:lnTo>
                  <a:lnTo>
                    <a:pt x="2518378" y="1999856"/>
                  </a:lnTo>
                  <a:lnTo>
                    <a:pt x="2514386" y="2000249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958260" y="2205037"/>
              <a:ext cx="2571750" cy="2000250"/>
            </a:xfrm>
            <a:custGeom>
              <a:avLst/>
              <a:gdLst/>
              <a:ahLst/>
              <a:cxnLst/>
              <a:rect l="l" t="t" r="r" b="b"/>
              <a:pathLst>
                <a:path w="2571750" h="2000250">
                  <a:moveTo>
                    <a:pt x="0" y="193885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79" y="49417"/>
                  </a:lnTo>
                  <a:lnTo>
                    <a:pt x="1966" y="45463"/>
                  </a:lnTo>
                  <a:lnTo>
                    <a:pt x="3131" y="41624"/>
                  </a:lnTo>
                  <a:lnTo>
                    <a:pt x="4673" y="37900"/>
                  </a:lnTo>
                  <a:lnTo>
                    <a:pt x="6215" y="34175"/>
                  </a:lnTo>
                  <a:lnTo>
                    <a:pt x="8107" y="30637"/>
                  </a:lnTo>
                  <a:lnTo>
                    <a:pt x="10347" y="27285"/>
                  </a:lnTo>
                  <a:lnTo>
                    <a:pt x="12586" y="23933"/>
                  </a:lnTo>
                  <a:lnTo>
                    <a:pt x="15131" y="20832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6"/>
                  </a:lnTo>
                  <a:lnTo>
                    <a:pt x="27286" y="10346"/>
                  </a:lnTo>
                  <a:lnTo>
                    <a:pt x="30637" y="8107"/>
                  </a:lnTo>
                  <a:lnTo>
                    <a:pt x="34175" y="6215"/>
                  </a:lnTo>
                  <a:lnTo>
                    <a:pt x="37900" y="4673"/>
                  </a:lnTo>
                  <a:lnTo>
                    <a:pt x="41625" y="3130"/>
                  </a:lnTo>
                  <a:lnTo>
                    <a:pt x="45464" y="1966"/>
                  </a:lnTo>
                  <a:lnTo>
                    <a:pt x="49418" y="1179"/>
                  </a:lnTo>
                  <a:lnTo>
                    <a:pt x="53372" y="393"/>
                  </a:lnTo>
                  <a:lnTo>
                    <a:pt x="57365" y="0"/>
                  </a:lnTo>
                  <a:lnTo>
                    <a:pt x="61396" y="0"/>
                  </a:lnTo>
                  <a:lnTo>
                    <a:pt x="2510355" y="0"/>
                  </a:lnTo>
                  <a:lnTo>
                    <a:pt x="2514386" y="0"/>
                  </a:lnTo>
                  <a:lnTo>
                    <a:pt x="2518378" y="393"/>
                  </a:lnTo>
                  <a:lnTo>
                    <a:pt x="2522332" y="1179"/>
                  </a:lnTo>
                  <a:lnTo>
                    <a:pt x="2526286" y="1966"/>
                  </a:lnTo>
                  <a:lnTo>
                    <a:pt x="2530126" y="3130"/>
                  </a:lnTo>
                  <a:lnTo>
                    <a:pt x="2533850" y="4673"/>
                  </a:lnTo>
                  <a:lnTo>
                    <a:pt x="2537574" y="6215"/>
                  </a:lnTo>
                  <a:lnTo>
                    <a:pt x="2561402" y="27285"/>
                  </a:lnTo>
                  <a:lnTo>
                    <a:pt x="2563641" y="30637"/>
                  </a:lnTo>
                  <a:lnTo>
                    <a:pt x="2571750" y="61395"/>
                  </a:lnTo>
                  <a:lnTo>
                    <a:pt x="2571750" y="1938854"/>
                  </a:lnTo>
                  <a:lnTo>
                    <a:pt x="2559162" y="1976315"/>
                  </a:lnTo>
                  <a:lnTo>
                    <a:pt x="2526285" y="1998283"/>
                  </a:lnTo>
                  <a:lnTo>
                    <a:pt x="2522331" y="1999069"/>
                  </a:lnTo>
                  <a:lnTo>
                    <a:pt x="2518378" y="1999856"/>
                  </a:lnTo>
                  <a:lnTo>
                    <a:pt x="2514386" y="2000249"/>
                  </a:lnTo>
                  <a:lnTo>
                    <a:pt x="2510355" y="2000249"/>
                  </a:lnTo>
                  <a:lnTo>
                    <a:pt x="61396" y="2000249"/>
                  </a:lnTo>
                  <a:lnTo>
                    <a:pt x="57365" y="2000249"/>
                  </a:lnTo>
                  <a:lnTo>
                    <a:pt x="53372" y="1999856"/>
                  </a:lnTo>
                  <a:lnTo>
                    <a:pt x="27286" y="1989902"/>
                  </a:lnTo>
                  <a:lnTo>
                    <a:pt x="23934" y="1987662"/>
                  </a:lnTo>
                  <a:lnTo>
                    <a:pt x="20832" y="1985117"/>
                  </a:lnTo>
                  <a:lnTo>
                    <a:pt x="17982" y="1982266"/>
                  </a:lnTo>
                  <a:lnTo>
                    <a:pt x="15131" y="1979416"/>
                  </a:lnTo>
                  <a:lnTo>
                    <a:pt x="12586" y="1976314"/>
                  </a:lnTo>
                  <a:lnTo>
                    <a:pt x="10347" y="1972963"/>
                  </a:lnTo>
                  <a:lnTo>
                    <a:pt x="8107" y="1969611"/>
                  </a:lnTo>
                  <a:lnTo>
                    <a:pt x="6215" y="1966073"/>
                  </a:lnTo>
                  <a:lnTo>
                    <a:pt x="4673" y="1962348"/>
                  </a:lnTo>
                  <a:lnTo>
                    <a:pt x="3131" y="1958624"/>
                  </a:lnTo>
                  <a:lnTo>
                    <a:pt x="1966" y="1954785"/>
                  </a:lnTo>
                  <a:lnTo>
                    <a:pt x="1179" y="1950831"/>
                  </a:lnTo>
                  <a:lnTo>
                    <a:pt x="393" y="1946878"/>
                  </a:lnTo>
                  <a:lnTo>
                    <a:pt x="0" y="1942885"/>
                  </a:lnTo>
                  <a:lnTo>
                    <a:pt x="0" y="1938854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140825" y="2389504"/>
            <a:ext cx="2118360" cy="158559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635635">
              <a:lnSpc>
                <a:spcPct val="104700"/>
              </a:lnSpc>
              <a:spcBef>
                <a:spcPts val="5"/>
              </a:spcBef>
            </a:pPr>
            <a:r>
              <a:rPr dirty="0" sz="1850" spc="204" b="1">
                <a:solidFill>
                  <a:srgbClr val="333F6F"/>
                </a:solidFill>
                <a:latin typeface="Verdana"/>
                <a:cs typeface="Verdana"/>
              </a:rPr>
              <a:t>Software </a:t>
            </a:r>
            <a:r>
              <a:rPr dirty="0" sz="1850" spc="165" b="1">
                <a:solidFill>
                  <a:srgbClr val="333F6F"/>
                </a:solidFill>
                <a:latin typeface="Verdana"/>
                <a:cs typeface="Verdana"/>
              </a:rPr>
              <a:t>Workflow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5800"/>
              </a:lnSpc>
              <a:spcBef>
                <a:spcPts val="630"/>
              </a:spcBef>
            </a:pP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Understand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development</a:t>
            </a:r>
            <a:r>
              <a:rPr dirty="0" sz="1450" spc="10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lifecycle</a:t>
            </a:r>
            <a:r>
              <a:rPr dirty="0" sz="1450" spc="10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50">
                <a:solidFill>
                  <a:srgbClr val="333F6F"/>
                </a:solidFill>
                <a:latin typeface="Open Sans"/>
                <a:cs typeface="Open Sans"/>
              </a:rPr>
              <a:t>&amp;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versioning.</a:t>
            </a:r>
            <a:endParaRPr sz="1450">
              <a:latin typeface="Open Sans"/>
              <a:cs typeface="Open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57224" y="4400549"/>
            <a:ext cx="10877550" cy="1104900"/>
            <a:chOff x="657224" y="4400549"/>
            <a:chExt cx="10877550" cy="1104900"/>
          </a:xfrm>
        </p:grpSpPr>
        <p:sp>
          <p:nvSpPr>
            <p:cNvPr id="20" name="object 20"/>
            <p:cNvSpPr/>
            <p:nvPr/>
          </p:nvSpPr>
          <p:spPr>
            <a:xfrm>
              <a:off x="661987" y="4405312"/>
              <a:ext cx="10868025" cy="1095375"/>
            </a:xfrm>
            <a:custGeom>
              <a:avLst/>
              <a:gdLst/>
              <a:ahLst/>
              <a:cxnLst/>
              <a:rect l="l" t="t" r="r" b="b"/>
              <a:pathLst>
                <a:path w="10868025" h="1095375">
                  <a:moveTo>
                    <a:pt x="10810660" y="1095374"/>
                  </a:moveTo>
                  <a:lnTo>
                    <a:pt x="57364" y="1095374"/>
                  </a:lnTo>
                  <a:lnTo>
                    <a:pt x="53371" y="1094981"/>
                  </a:lnTo>
                  <a:lnTo>
                    <a:pt x="15131" y="1074541"/>
                  </a:lnTo>
                  <a:lnTo>
                    <a:pt x="0" y="1038010"/>
                  </a:lnTo>
                  <a:lnTo>
                    <a:pt x="0" y="1033979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10810660" y="0"/>
                  </a:lnTo>
                  <a:lnTo>
                    <a:pt x="10847190" y="15131"/>
                  </a:lnTo>
                  <a:lnTo>
                    <a:pt x="10867628" y="53371"/>
                  </a:lnTo>
                  <a:lnTo>
                    <a:pt x="10868022" y="57364"/>
                  </a:lnTo>
                  <a:lnTo>
                    <a:pt x="10868022" y="1038010"/>
                  </a:lnTo>
                  <a:lnTo>
                    <a:pt x="10852891" y="1074541"/>
                  </a:lnTo>
                  <a:lnTo>
                    <a:pt x="10814651" y="1094981"/>
                  </a:lnTo>
                  <a:lnTo>
                    <a:pt x="10810660" y="1095374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1987" y="4405312"/>
              <a:ext cx="10868025" cy="1095375"/>
            </a:xfrm>
            <a:custGeom>
              <a:avLst/>
              <a:gdLst/>
              <a:ahLst/>
              <a:cxnLst/>
              <a:rect l="l" t="t" r="r" b="b"/>
              <a:pathLst>
                <a:path w="10868025" h="1095375">
                  <a:moveTo>
                    <a:pt x="0" y="1033979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179" y="49417"/>
                  </a:lnTo>
                  <a:lnTo>
                    <a:pt x="1966" y="45463"/>
                  </a:lnTo>
                  <a:lnTo>
                    <a:pt x="3130" y="41624"/>
                  </a:lnTo>
                  <a:lnTo>
                    <a:pt x="4673" y="37899"/>
                  </a:lnTo>
                  <a:lnTo>
                    <a:pt x="6216" y="34175"/>
                  </a:lnTo>
                  <a:lnTo>
                    <a:pt x="8107" y="30637"/>
                  </a:lnTo>
                  <a:lnTo>
                    <a:pt x="10346" y="27285"/>
                  </a:lnTo>
                  <a:lnTo>
                    <a:pt x="12586" y="23933"/>
                  </a:lnTo>
                  <a:lnTo>
                    <a:pt x="15131" y="20832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37900" y="4673"/>
                  </a:lnTo>
                  <a:lnTo>
                    <a:pt x="41624" y="3130"/>
                  </a:lnTo>
                  <a:lnTo>
                    <a:pt x="45464" y="1966"/>
                  </a:lnTo>
                  <a:lnTo>
                    <a:pt x="49417" y="1179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61395" y="0"/>
                  </a:lnTo>
                  <a:lnTo>
                    <a:pt x="10806629" y="0"/>
                  </a:lnTo>
                  <a:lnTo>
                    <a:pt x="10810660" y="0"/>
                  </a:lnTo>
                  <a:lnTo>
                    <a:pt x="10814651" y="393"/>
                  </a:lnTo>
                  <a:lnTo>
                    <a:pt x="10850041" y="17982"/>
                  </a:lnTo>
                  <a:lnTo>
                    <a:pt x="10857675" y="27285"/>
                  </a:lnTo>
                  <a:lnTo>
                    <a:pt x="10859915" y="30637"/>
                  </a:lnTo>
                  <a:lnTo>
                    <a:pt x="10868024" y="61395"/>
                  </a:lnTo>
                  <a:lnTo>
                    <a:pt x="10868024" y="1033979"/>
                  </a:lnTo>
                  <a:lnTo>
                    <a:pt x="10855436" y="1071440"/>
                  </a:lnTo>
                  <a:lnTo>
                    <a:pt x="10822559" y="1093408"/>
                  </a:lnTo>
                  <a:lnTo>
                    <a:pt x="10818605" y="1094194"/>
                  </a:lnTo>
                  <a:lnTo>
                    <a:pt x="10814651" y="1094981"/>
                  </a:lnTo>
                  <a:lnTo>
                    <a:pt x="10810660" y="1095374"/>
                  </a:lnTo>
                  <a:lnTo>
                    <a:pt x="10806629" y="1095374"/>
                  </a:lnTo>
                  <a:lnTo>
                    <a:pt x="61395" y="1095374"/>
                  </a:lnTo>
                  <a:lnTo>
                    <a:pt x="27285" y="1085026"/>
                  </a:lnTo>
                  <a:lnTo>
                    <a:pt x="23934" y="1082787"/>
                  </a:lnTo>
                  <a:lnTo>
                    <a:pt x="10346" y="1068087"/>
                  </a:lnTo>
                  <a:lnTo>
                    <a:pt x="8107" y="1064736"/>
                  </a:lnTo>
                  <a:lnTo>
                    <a:pt x="1179" y="1045956"/>
                  </a:lnTo>
                  <a:lnTo>
                    <a:pt x="393" y="1042002"/>
                  </a:lnTo>
                  <a:lnTo>
                    <a:pt x="0" y="1038010"/>
                  </a:lnTo>
                  <a:lnTo>
                    <a:pt x="0" y="1033979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47377" y="4589779"/>
            <a:ext cx="3676015" cy="690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229" b="1">
                <a:solidFill>
                  <a:srgbClr val="333F6F"/>
                </a:solidFill>
                <a:latin typeface="Verdana"/>
                <a:cs typeface="Verdana"/>
              </a:rPr>
              <a:t>Code</a:t>
            </a:r>
            <a:r>
              <a:rPr dirty="0" sz="1850" spc="-16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30" b="1">
                <a:solidFill>
                  <a:srgbClr val="333F6F"/>
                </a:solidFill>
                <a:latin typeface="Verdana"/>
                <a:cs typeface="Verdana"/>
              </a:rPr>
              <a:t>Quality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Write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structured,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maintainable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programs.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42131"/>
            <a:ext cx="5843270" cy="3886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85"/>
              <a:t>Technologies</a:t>
            </a:r>
            <a:r>
              <a:rPr dirty="0" sz="2350" spc="-210"/>
              <a:t> </a:t>
            </a:r>
            <a:r>
              <a:rPr dirty="0" sz="2350" spc="200"/>
              <a:t>&amp;</a:t>
            </a:r>
            <a:r>
              <a:rPr dirty="0" sz="2350" spc="-300"/>
              <a:t> </a:t>
            </a:r>
            <a:r>
              <a:rPr dirty="0" sz="2350" spc="315"/>
              <a:t>Concepts</a:t>
            </a:r>
            <a:r>
              <a:rPr dirty="0" sz="2350" spc="-210"/>
              <a:t> </a:t>
            </a:r>
            <a:r>
              <a:rPr dirty="0" sz="2350" spc="235"/>
              <a:t>Used</a:t>
            </a:r>
            <a:endParaRPr sz="2350"/>
          </a:p>
        </p:txBody>
      </p:sp>
      <p:sp>
        <p:nvSpPr>
          <p:cNvPr id="4" name="object 4"/>
          <p:cNvSpPr/>
          <p:nvPr/>
        </p:nvSpPr>
        <p:spPr>
          <a:xfrm>
            <a:off x="5172074" y="1266824"/>
            <a:ext cx="3114675" cy="1114425"/>
          </a:xfrm>
          <a:custGeom>
            <a:avLst/>
            <a:gdLst/>
            <a:ahLst/>
            <a:cxnLst/>
            <a:rect l="l" t="t" r="r" b="b"/>
            <a:pathLst>
              <a:path w="3114675" h="1114425">
                <a:moveTo>
                  <a:pt x="0" y="1047749"/>
                </a:moveTo>
                <a:lnTo>
                  <a:pt x="0" y="66674"/>
                </a:lnTo>
                <a:lnTo>
                  <a:pt x="0" y="62296"/>
                </a:lnTo>
                <a:lnTo>
                  <a:pt x="426" y="57960"/>
                </a:lnTo>
                <a:lnTo>
                  <a:pt x="1280" y="53667"/>
                </a:lnTo>
                <a:lnTo>
                  <a:pt x="2134" y="49373"/>
                </a:lnTo>
                <a:lnTo>
                  <a:pt x="3399" y="45204"/>
                </a:lnTo>
                <a:lnTo>
                  <a:pt x="5074" y="41159"/>
                </a:lnTo>
                <a:lnTo>
                  <a:pt x="6749" y="37114"/>
                </a:lnTo>
                <a:lnTo>
                  <a:pt x="8803" y="33272"/>
                </a:lnTo>
                <a:lnTo>
                  <a:pt x="11236" y="29632"/>
                </a:lnTo>
                <a:lnTo>
                  <a:pt x="13668" y="25992"/>
                </a:lnTo>
                <a:lnTo>
                  <a:pt x="16432" y="22624"/>
                </a:lnTo>
                <a:lnTo>
                  <a:pt x="19528" y="19528"/>
                </a:lnTo>
                <a:lnTo>
                  <a:pt x="22623" y="16432"/>
                </a:lnTo>
                <a:lnTo>
                  <a:pt x="25991" y="13668"/>
                </a:lnTo>
                <a:lnTo>
                  <a:pt x="29631" y="11236"/>
                </a:lnTo>
                <a:lnTo>
                  <a:pt x="33271" y="8804"/>
                </a:lnTo>
                <a:lnTo>
                  <a:pt x="37113" y="6750"/>
                </a:lnTo>
                <a:lnTo>
                  <a:pt x="41158" y="5075"/>
                </a:lnTo>
                <a:lnTo>
                  <a:pt x="45203" y="3399"/>
                </a:lnTo>
                <a:lnTo>
                  <a:pt x="49372" y="2135"/>
                </a:lnTo>
                <a:lnTo>
                  <a:pt x="53667" y="1281"/>
                </a:lnTo>
                <a:lnTo>
                  <a:pt x="57960" y="427"/>
                </a:lnTo>
                <a:lnTo>
                  <a:pt x="62296" y="0"/>
                </a:lnTo>
                <a:lnTo>
                  <a:pt x="66674" y="0"/>
                </a:lnTo>
                <a:lnTo>
                  <a:pt x="3071273" y="0"/>
                </a:lnTo>
                <a:lnTo>
                  <a:pt x="3077027" y="0"/>
                </a:lnTo>
                <a:lnTo>
                  <a:pt x="3082563" y="1101"/>
                </a:lnTo>
                <a:lnTo>
                  <a:pt x="3111369" y="26792"/>
                </a:lnTo>
                <a:lnTo>
                  <a:pt x="3114674" y="43401"/>
                </a:lnTo>
                <a:lnTo>
                  <a:pt x="3114674" y="1071023"/>
                </a:lnTo>
                <a:lnTo>
                  <a:pt x="3114674" y="1076778"/>
                </a:lnTo>
                <a:lnTo>
                  <a:pt x="3113572" y="1082314"/>
                </a:lnTo>
                <a:lnTo>
                  <a:pt x="3111369" y="1087631"/>
                </a:lnTo>
                <a:lnTo>
                  <a:pt x="3109166" y="1092949"/>
                </a:lnTo>
                <a:lnTo>
                  <a:pt x="3087880" y="1111120"/>
                </a:lnTo>
                <a:lnTo>
                  <a:pt x="3082563" y="1113323"/>
                </a:lnTo>
                <a:lnTo>
                  <a:pt x="3077027" y="1114424"/>
                </a:lnTo>
                <a:lnTo>
                  <a:pt x="3071273" y="1114424"/>
                </a:lnTo>
                <a:lnTo>
                  <a:pt x="66674" y="1114424"/>
                </a:lnTo>
                <a:lnTo>
                  <a:pt x="62296" y="1114424"/>
                </a:lnTo>
                <a:lnTo>
                  <a:pt x="57960" y="1113997"/>
                </a:lnTo>
                <a:lnTo>
                  <a:pt x="53667" y="1113143"/>
                </a:lnTo>
                <a:lnTo>
                  <a:pt x="49373" y="1112289"/>
                </a:lnTo>
                <a:lnTo>
                  <a:pt x="45203" y="1111024"/>
                </a:lnTo>
                <a:lnTo>
                  <a:pt x="41159" y="1109349"/>
                </a:lnTo>
                <a:lnTo>
                  <a:pt x="37114" y="1107673"/>
                </a:lnTo>
                <a:lnTo>
                  <a:pt x="33271" y="1105619"/>
                </a:lnTo>
                <a:lnTo>
                  <a:pt x="29631" y="1103187"/>
                </a:lnTo>
                <a:lnTo>
                  <a:pt x="25991" y="1100755"/>
                </a:lnTo>
                <a:lnTo>
                  <a:pt x="22623" y="1097991"/>
                </a:lnTo>
                <a:lnTo>
                  <a:pt x="19528" y="1094895"/>
                </a:lnTo>
                <a:lnTo>
                  <a:pt x="16432" y="1091800"/>
                </a:lnTo>
                <a:lnTo>
                  <a:pt x="13668" y="1088432"/>
                </a:lnTo>
                <a:lnTo>
                  <a:pt x="11236" y="1084792"/>
                </a:lnTo>
                <a:lnTo>
                  <a:pt x="8803" y="1081152"/>
                </a:lnTo>
                <a:lnTo>
                  <a:pt x="6749" y="1077309"/>
                </a:lnTo>
                <a:lnTo>
                  <a:pt x="5074" y="1073264"/>
                </a:lnTo>
                <a:lnTo>
                  <a:pt x="3399" y="1069220"/>
                </a:lnTo>
                <a:lnTo>
                  <a:pt x="2134" y="1065051"/>
                </a:lnTo>
                <a:lnTo>
                  <a:pt x="1280" y="1060757"/>
                </a:lnTo>
                <a:lnTo>
                  <a:pt x="426" y="1056463"/>
                </a:lnTo>
                <a:lnTo>
                  <a:pt x="0" y="1052127"/>
                </a:lnTo>
                <a:lnTo>
                  <a:pt x="0" y="1047749"/>
                </a:lnTo>
                <a:close/>
              </a:path>
            </a:pathLst>
          </a:custGeom>
          <a:ln w="19049">
            <a:solidFill>
              <a:srgbClr val="BCDA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62548" y="1257299"/>
            <a:ext cx="76200" cy="1133475"/>
          </a:xfrm>
          <a:custGeom>
            <a:avLst/>
            <a:gdLst/>
            <a:ahLst/>
            <a:cxnLst/>
            <a:rect l="l" t="t" r="r" b="b"/>
            <a:pathLst>
              <a:path w="76200" h="1133475">
                <a:moveTo>
                  <a:pt x="76200" y="1133474"/>
                </a:moveTo>
                <a:lnTo>
                  <a:pt x="35883" y="1130775"/>
                </a:lnTo>
                <a:lnTo>
                  <a:pt x="5358" y="1104012"/>
                </a:lnTo>
                <a:lnTo>
                  <a:pt x="0" y="1084023"/>
                </a:lnTo>
                <a:lnTo>
                  <a:pt x="0" y="1080548"/>
                </a:lnTo>
                <a:lnTo>
                  <a:pt x="0" y="49451"/>
                </a:lnTo>
                <a:lnTo>
                  <a:pt x="17958" y="13044"/>
                </a:lnTo>
                <a:lnTo>
                  <a:pt x="49452" y="0"/>
                </a:lnTo>
                <a:lnTo>
                  <a:pt x="76200" y="0"/>
                </a:lnTo>
                <a:lnTo>
                  <a:pt x="76200" y="1133474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46464" y="1408049"/>
            <a:ext cx="2642235" cy="8070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-25" b="1">
                <a:solidFill>
                  <a:srgbClr val="333F6F"/>
                </a:solidFill>
                <a:latin typeface="Verdana"/>
                <a:cs typeface="Verdana"/>
              </a:rPr>
              <a:t>C++</a:t>
            </a:r>
            <a:endParaRPr sz="1450">
              <a:latin typeface="Verdana"/>
              <a:cs typeface="Verdana"/>
            </a:endParaRPr>
          </a:p>
          <a:p>
            <a:pPr algn="ctr" marL="12700" marR="5080">
              <a:lnSpc>
                <a:spcPct val="119800"/>
              </a:lnSpc>
              <a:spcBef>
                <a:spcPts val="925"/>
              </a:spcBef>
            </a:pP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Core</a:t>
            </a:r>
            <a:r>
              <a:rPr dirty="0" sz="1200" spc="-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language</a:t>
            </a:r>
            <a:r>
              <a:rPr dirty="0" sz="1200" spc="-3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features</a:t>
            </a:r>
            <a:r>
              <a:rPr dirty="0" sz="1200" spc="-3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200" spc="-3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standard library.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20098" y="1266824"/>
            <a:ext cx="3114675" cy="1114425"/>
          </a:xfrm>
          <a:custGeom>
            <a:avLst/>
            <a:gdLst/>
            <a:ahLst/>
            <a:cxnLst/>
            <a:rect l="l" t="t" r="r" b="b"/>
            <a:pathLst>
              <a:path w="3114675" h="1114425">
                <a:moveTo>
                  <a:pt x="0" y="1047749"/>
                </a:moveTo>
                <a:lnTo>
                  <a:pt x="0" y="66674"/>
                </a:lnTo>
                <a:lnTo>
                  <a:pt x="0" y="62296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4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2"/>
                </a:lnTo>
                <a:lnTo>
                  <a:pt x="13668" y="25992"/>
                </a:lnTo>
                <a:lnTo>
                  <a:pt x="16432" y="22624"/>
                </a:lnTo>
                <a:lnTo>
                  <a:pt x="19528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29631" y="11236"/>
                </a:lnTo>
                <a:lnTo>
                  <a:pt x="33271" y="8804"/>
                </a:lnTo>
                <a:lnTo>
                  <a:pt x="37114" y="6750"/>
                </a:lnTo>
                <a:lnTo>
                  <a:pt x="41159" y="5075"/>
                </a:lnTo>
                <a:lnTo>
                  <a:pt x="45203" y="3399"/>
                </a:lnTo>
                <a:lnTo>
                  <a:pt x="49373" y="2135"/>
                </a:lnTo>
                <a:lnTo>
                  <a:pt x="53667" y="1281"/>
                </a:lnTo>
                <a:lnTo>
                  <a:pt x="57960" y="427"/>
                </a:lnTo>
                <a:lnTo>
                  <a:pt x="62297" y="0"/>
                </a:lnTo>
                <a:lnTo>
                  <a:pt x="66675" y="0"/>
                </a:lnTo>
                <a:lnTo>
                  <a:pt x="3071273" y="0"/>
                </a:lnTo>
                <a:lnTo>
                  <a:pt x="3077027" y="0"/>
                </a:lnTo>
                <a:lnTo>
                  <a:pt x="3082563" y="1101"/>
                </a:lnTo>
                <a:lnTo>
                  <a:pt x="3111369" y="26792"/>
                </a:lnTo>
                <a:lnTo>
                  <a:pt x="3113571" y="32109"/>
                </a:lnTo>
                <a:lnTo>
                  <a:pt x="3114674" y="37645"/>
                </a:lnTo>
                <a:lnTo>
                  <a:pt x="3114675" y="43401"/>
                </a:lnTo>
                <a:lnTo>
                  <a:pt x="3114675" y="1071023"/>
                </a:lnTo>
                <a:lnTo>
                  <a:pt x="3114674" y="1076778"/>
                </a:lnTo>
                <a:lnTo>
                  <a:pt x="3113571" y="1082314"/>
                </a:lnTo>
                <a:lnTo>
                  <a:pt x="3111369" y="1087631"/>
                </a:lnTo>
                <a:lnTo>
                  <a:pt x="3109167" y="1092949"/>
                </a:lnTo>
                <a:lnTo>
                  <a:pt x="3087880" y="1111120"/>
                </a:lnTo>
                <a:lnTo>
                  <a:pt x="3082563" y="1113323"/>
                </a:lnTo>
                <a:lnTo>
                  <a:pt x="3077027" y="1114424"/>
                </a:lnTo>
                <a:lnTo>
                  <a:pt x="3071273" y="1114424"/>
                </a:lnTo>
                <a:lnTo>
                  <a:pt x="66675" y="1114424"/>
                </a:lnTo>
                <a:lnTo>
                  <a:pt x="41159" y="1109349"/>
                </a:lnTo>
                <a:lnTo>
                  <a:pt x="37114" y="1107673"/>
                </a:lnTo>
                <a:lnTo>
                  <a:pt x="19528" y="1094895"/>
                </a:lnTo>
                <a:lnTo>
                  <a:pt x="16432" y="1091800"/>
                </a:lnTo>
                <a:lnTo>
                  <a:pt x="13667" y="1088432"/>
                </a:lnTo>
                <a:lnTo>
                  <a:pt x="11235" y="1084792"/>
                </a:lnTo>
                <a:lnTo>
                  <a:pt x="8804" y="1081152"/>
                </a:lnTo>
                <a:lnTo>
                  <a:pt x="6750" y="1077309"/>
                </a:lnTo>
                <a:lnTo>
                  <a:pt x="5075" y="1073264"/>
                </a:lnTo>
                <a:lnTo>
                  <a:pt x="3399" y="1069220"/>
                </a:lnTo>
                <a:lnTo>
                  <a:pt x="2135" y="1065051"/>
                </a:lnTo>
                <a:lnTo>
                  <a:pt x="1281" y="1060757"/>
                </a:lnTo>
                <a:lnTo>
                  <a:pt x="427" y="1056463"/>
                </a:lnTo>
                <a:lnTo>
                  <a:pt x="0" y="1052127"/>
                </a:lnTo>
                <a:lnTo>
                  <a:pt x="0" y="1047749"/>
                </a:lnTo>
                <a:close/>
              </a:path>
            </a:pathLst>
          </a:custGeom>
          <a:ln w="19049">
            <a:solidFill>
              <a:srgbClr val="BCDA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410574" y="1257299"/>
            <a:ext cx="76200" cy="1133475"/>
          </a:xfrm>
          <a:custGeom>
            <a:avLst/>
            <a:gdLst/>
            <a:ahLst/>
            <a:cxnLst/>
            <a:rect l="l" t="t" r="r" b="b"/>
            <a:pathLst>
              <a:path w="76200" h="1133475">
                <a:moveTo>
                  <a:pt x="76199" y="1133474"/>
                </a:moveTo>
                <a:lnTo>
                  <a:pt x="35882" y="1130775"/>
                </a:lnTo>
                <a:lnTo>
                  <a:pt x="5357" y="1104012"/>
                </a:lnTo>
                <a:lnTo>
                  <a:pt x="0" y="1084023"/>
                </a:lnTo>
                <a:lnTo>
                  <a:pt x="0" y="1080548"/>
                </a:lnTo>
                <a:lnTo>
                  <a:pt x="0" y="49451"/>
                </a:lnTo>
                <a:lnTo>
                  <a:pt x="17958" y="13044"/>
                </a:lnTo>
                <a:lnTo>
                  <a:pt x="49451" y="0"/>
                </a:lnTo>
                <a:lnTo>
                  <a:pt x="76199" y="0"/>
                </a:lnTo>
                <a:lnTo>
                  <a:pt x="76199" y="1133474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772475" y="1408049"/>
            <a:ext cx="2484755" cy="588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145" b="1">
                <a:solidFill>
                  <a:srgbClr val="333F6F"/>
                </a:solidFill>
                <a:latin typeface="Verdana"/>
                <a:cs typeface="Verdana"/>
              </a:rPr>
              <a:t>OOP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Classes,</a:t>
            </a:r>
            <a:r>
              <a:rPr dirty="0" sz="1200" spc="-2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inheritance,</a:t>
            </a:r>
            <a:r>
              <a:rPr dirty="0" sz="1200" spc="-2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encapsulation</a:t>
            </a:r>
            <a:endParaRPr sz="1200">
              <a:latin typeface="Open Sans"/>
              <a:cs typeface="Open San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25" y="2771775"/>
            <a:ext cx="3295649" cy="18764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172074" y="2524124"/>
            <a:ext cx="3114675" cy="1114425"/>
          </a:xfrm>
          <a:custGeom>
            <a:avLst/>
            <a:gdLst/>
            <a:ahLst/>
            <a:cxnLst/>
            <a:rect l="l" t="t" r="r" b="b"/>
            <a:pathLst>
              <a:path w="3114675" h="1114425">
                <a:moveTo>
                  <a:pt x="0" y="1047749"/>
                </a:moveTo>
                <a:lnTo>
                  <a:pt x="0" y="66674"/>
                </a:lnTo>
                <a:lnTo>
                  <a:pt x="0" y="62297"/>
                </a:lnTo>
                <a:lnTo>
                  <a:pt x="426" y="57960"/>
                </a:lnTo>
                <a:lnTo>
                  <a:pt x="1280" y="53667"/>
                </a:lnTo>
                <a:lnTo>
                  <a:pt x="2134" y="49373"/>
                </a:lnTo>
                <a:lnTo>
                  <a:pt x="3399" y="45203"/>
                </a:lnTo>
                <a:lnTo>
                  <a:pt x="5074" y="41159"/>
                </a:lnTo>
                <a:lnTo>
                  <a:pt x="6749" y="37114"/>
                </a:lnTo>
                <a:lnTo>
                  <a:pt x="8803" y="33272"/>
                </a:lnTo>
                <a:lnTo>
                  <a:pt x="11236" y="29632"/>
                </a:lnTo>
                <a:lnTo>
                  <a:pt x="13668" y="25992"/>
                </a:lnTo>
                <a:lnTo>
                  <a:pt x="16432" y="22623"/>
                </a:lnTo>
                <a:lnTo>
                  <a:pt x="19528" y="19528"/>
                </a:lnTo>
                <a:lnTo>
                  <a:pt x="22623" y="16433"/>
                </a:lnTo>
                <a:lnTo>
                  <a:pt x="25991" y="13668"/>
                </a:lnTo>
                <a:lnTo>
                  <a:pt x="29631" y="11236"/>
                </a:lnTo>
                <a:lnTo>
                  <a:pt x="33271" y="8804"/>
                </a:lnTo>
                <a:lnTo>
                  <a:pt x="37113" y="6750"/>
                </a:lnTo>
                <a:lnTo>
                  <a:pt x="41158" y="5075"/>
                </a:lnTo>
                <a:lnTo>
                  <a:pt x="45203" y="3399"/>
                </a:lnTo>
                <a:lnTo>
                  <a:pt x="49372" y="2135"/>
                </a:lnTo>
                <a:lnTo>
                  <a:pt x="53667" y="1281"/>
                </a:lnTo>
                <a:lnTo>
                  <a:pt x="57960" y="427"/>
                </a:lnTo>
                <a:lnTo>
                  <a:pt x="62296" y="0"/>
                </a:lnTo>
                <a:lnTo>
                  <a:pt x="66674" y="0"/>
                </a:lnTo>
                <a:lnTo>
                  <a:pt x="3071273" y="0"/>
                </a:lnTo>
                <a:lnTo>
                  <a:pt x="3077027" y="0"/>
                </a:lnTo>
                <a:lnTo>
                  <a:pt x="3082563" y="1101"/>
                </a:lnTo>
                <a:lnTo>
                  <a:pt x="3087880" y="3303"/>
                </a:lnTo>
                <a:lnTo>
                  <a:pt x="3093197" y="5506"/>
                </a:lnTo>
                <a:lnTo>
                  <a:pt x="3097891" y="8641"/>
                </a:lnTo>
                <a:lnTo>
                  <a:pt x="3114674" y="43401"/>
                </a:lnTo>
                <a:lnTo>
                  <a:pt x="3114674" y="1071023"/>
                </a:lnTo>
                <a:lnTo>
                  <a:pt x="3097891" y="1105781"/>
                </a:lnTo>
                <a:lnTo>
                  <a:pt x="3071273" y="1114424"/>
                </a:lnTo>
                <a:lnTo>
                  <a:pt x="66674" y="1114424"/>
                </a:lnTo>
                <a:lnTo>
                  <a:pt x="62296" y="1114424"/>
                </a:lnTo>
                <a:lnTo>
                  <a:pt x="57960" y="1113997"/>
                </a:lnTo>
                <a:lnTo>
                  <a:pt x="53667" y="1113143"/>
                </a:lnTo>
                <a:lnTo>
                  <a:pt x="49373" y="1112289"/>
                </a:lnTo>
                <a:lnTo>
                  <a:pt x="45203" y="1111024"/>
                </a:lnTo>
                <a:lnTo>
                  <a:pt x="41159" y="1109349"/>
                </a:lnTo>
                <a:lnTo>
                  <a:pt x="37114" y="1107673"/>
                </a:lnTo>
                <a:lnTo>
                  <a:pt x="33271" y="1105619"/>
                </a:lnTo>
                <a:lnTo>
                  <a:pt x="29631" y="1103187"/>
                </a:lnTo>
                <a:lnTo>
                  <a:pt x="25991" y="1100755"/>
                </a:lnTo>
                <a:lnTo>
                  <a:pt x="22623" y="1097991"/>
                </a:lnTo>
                <a:lnTo>
                  <a:pt x="19528" y="1094895"/>
                </a:lnTo>
                <a:lnTo>
                  <a:pt x="16432" y="1091799"/>
                </a:lnTo>
                <a:lnTo>
                  <a:pt x="13668" y="1088431"/>
                </a:lnTo>
                <a:lnTo>
                  <a:pt x="11236" y="1084791"/>
                </a:lnTo>
                <a:lnTo>
                  <a:pt x="8803" y="1081151"/>
                </a:lnTo>
                <a:lnTo>
                  <a:pt x="6749" y="1077309"/>
                </a:lnTo>
                <a:lnTo>
                  <a:pt x="5074" y="1073264"/>
                </a:lnTo>
                <a:lnTo>
                  <a:pt x="3399" y="1069219"/>
                </a:lnTo>
                <a:lnTo>
                  <a:pt x="2134" y="1065050"/>
                </a:lnTo>
                <a:lnTo>
                  <a:pt x="1280" y="1060756"/>
                </a:lnTo>
                <a:lnTo>
                  <a:pt x="426" y="1056463"/>
                </a:lnTo>
                <a:lnTo>
                  <a:pt x="0" y="1052127"/>
                </a:lnTo>
                <a:lnTo>
                  <a:pt x="0" y="1047749"/>
                </a:lnTo>
                <a:close/>
              </a:path>
            </a:pathLst>
          </a:custGeom>
          <a:ln w="19049">
            <a:solidFill>
              <a:srgbClr val="BCDA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62548" y="2514599"/>
            <a:ext cx="76200" cy="1133475"/>
          </a:xfrm>
          <a:custGeom>
            <a:avLst/>
            <a:gdLst/>
            <a:ahLst/>
            <a:cxnLst/>
            <a:rect l="l" t="t" r="r" b="b"/>
            <a:pathLst>
              <a:path w="76200" h="1133475">
                <a:moveTo>
                  <a:pt x="76200" y="1133474"/>
                </a:moveTo>
                <a:lnTo>
                  <a:pt x="49452" y="1133474"/>
                </a:lnTo>
                <a:lnTo>
                  <a:pt x="46009" y="1133135"/>
                </a:lnTo>
                <a:lnTo>
                  <a:pt x="10850" y="1112841"/>
                </a:lnTo>
                <a:lnTo>
                  <a:pt x="0" y="1084023"/>
                </a:lnTo>
                <a:lnTo>
                  <a:pt x="0" y="1080548"/>
                </a:lnTo>
                <a:lnTo>
                  <a:pt x="0" y="49451"/>
                </a:lnTo>
                <a:lnTo>
                  <a:pt x="17958" y="13044"/>
                </a:lnTo>
                <a:lnTo>
                  <a:pt x="49452" y="0"/>
                </a:lnTo>
                <a:lnTo>
                  <a:pt x="76200" y="0"/>
                </a:lnTo>
                <a:lnTo>
                  <a:pt x="76200" y="1133474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48560" y="2665348"/>
            <a:ext cx="2437765" cy="7975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145" b="1">
                <a:solidFill>
                  <a:srgbClr val="333F6F"/>
                </a:solidFill>
                <a:latin typeface="Verdana"/>
                <a:cs typeface="Verdana"/>
              </a:rPr>
              <a:t>Functions</a:t>
            </a:r>
            <a:endParaRPr sz="1450">
              <a:latin typeface="Verdana"/>
              <a:cs typeface="Verdana"/>
            </a:endParaRPr>
          </a:p>
          <a:p>
            <a:pPr algn="ctr" marL="12700" marR="5080">
              <a:lnSpc>
                <a:spcPct val="119800"/>
              </a:lnSpc>
              <a:spcBef>
                <a:spcPts val="850"/>
              </a:spcBef>
            </a:pP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Modular</a:t>
            </a:r>
            <a:r>
              <a:rPr dirty="0" sz="1200" spc="-4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code,</a:t>
            </a:r>
            <a:r>
              <a:rPr dirty="0" sz="1200" spc="-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parameter</a:t>
            </a:r>
            <a:r>
              <a:rPr dirty="0" sz="1200" spc="-4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passing, recursion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20098" y="2524124"/>
            <a:ext cx="3114675" cy="1114425"/>
          </a:xfrm>
          <a:custGeom>
            <a:avLst/>
            <a:gdLst/>
            <a:ahLst/>
            <a:cxnLst/>
            <a:rect l="l" t="t" r="r" b="b"/>
            <a:pathLst>
              <a:path w="3114675" h="1114425">
                <a:moveTo>
                  <a:pt x="0" y="1047749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2"/>
                </a:lnTo>
                <a:lnTo>
                  <a:pt x="13668" y="25992"/>
                </a:lnTo>
                <a:lnTo>
                  <a:pt x="16432" y="22623"/>
                </a:lnTo>
                <a:lnTo>
                  <a:pt x="19528" y="19528"/>
                </a:lnTo>
                <a:lnTo>
                  <a:pt x="22624" y="16433"/>
                </a:lnTo>
                <a:lnTo>
                  <a:pt x="25992" y="13668"/>
                </a:lnTo>
                <a:lnTo>
                  <a:pt x="29631" y="11236"/>
                </a:lnTo>
                <a:lnTo>
                  <a:pt x="33271" y="8804"/>
                </a:lnTo>
                <a:lnTo>
                  <a:pt x="37114" y="6750"/>
                </a:lnTo>
                <a:lnTo>
                  <a:pt x="41159" y="5075"/>
                </a:lnTo>
                <a:lnTo>
                  <a:pt x="45203" y="3399"/>
                </a:lnTo>
                <a:lnTo>
                  <a:pt x="49373" y="2135"/>
                </a:lnTo>
                <a:lnTo>
                  <a:pt x="53667" y="1281"/>
                </a:lnTo>
                <a:lnTo>
                  <a:pt x="57960" y="427"/>
                </a:lnTo>
                <a:lnTo>
                  <a:pt x="62297" y="0"/>
                </a:lnTo>
                <a:lnTo>
                  <a:pt x="66675" y="0"/>
                </a:lnTo>
                <a:lnTo>
                  <a:pt x="3071273" y="0"/>
                </a:lnTo>
                <a:lnTo>
                  <a:pt x="3077027" y="0"/>
                </a:lnTo>
                <a:lnTo>
                  <a:pt x="3082563" y="1101"/>
                </a:lnTo>
                <a:lnTo>
                  <a:pt x="3087880" y="3303"/>
                </a:lnTo>
                <a:lnTo>
                  <a:pt x="3093197" y="5506"/>
                </a:lnTo>
                <a:lnTo>
                  <a:pt x="3097891" y="8641"/>
                </a:lnTo>
                <a:lnTo>
                  <a:pt x="3101962" y="12711"/>
                </a:lnTo>
                <a:lnTo>
                  <a:pt x="3106031" y="16781"/>
                </a:lnTo>
                <a:lnTo>
                  <a:pt x="3109167" y="21474"/>
                </a:lnTo>
                <a:lnTo>
                  <a:pt x="3111369" y="26792"/>
                </a:lnTo>
                <a:lnTo>
                  <a:pt x="3113571" y="32109"/>
                </a:lnTo>
                <a:lnTo>
                  <a:pt x="3114674" y="37645"/>
                </a:lnTo>
                <a:lnTo>
                  <a:pt x="3114675" y="43401"/>
                </a:lnTo>
                <a:lnTo>
                  <a:pt x="3114675" y="1071023"/>
                </a:lnTo>
                <a:lnTo>
                  <a:pt x="3097891" y="1105781"/>
                </a:lnTo>
                <a:lnTo>
                  <a:pt x="3071273" y="1114424"/>
                </a:lnTo>
                <a:lnTo>
                  <a:pt x="66675" y="1114424"/>
                </a:lnTo>
                <a:lnTo>
                  <a:pt x="62297" y="1114424"/>
                </a:lnTo>
                <a:lnTo>
                  <a:pt x="57960" y="1113997"/>
                </a:lnTo>
                <a:lnTo>
                  <a:pt x="53666" y="1113143"/>
                </a:lnTo>
                <a:lnTo>
                  <a:pt x="49373" y="1112289"/>
                </a:lnTo>
                <a:lnTo>
                  <a:pt x="45203" y="1111024"/>
                </a:lnTo>
                <a:lnTo>
                  <a:pt x="41159" y="1109349"/>
                </a:lnTo>
                <a:lnTo>
                  <a:pt x="37114" y="1107673"/>
                </a:lnTo>
                <a:lnTo>
                  <a:pt x="33271" y="1105619"/>
                </a:lnTo>
                <a:lnTo>
                  <a:pt x="29631" y="1103187"/>
                </a:lnTo>
                <a:lnTo>
                  <a:pt x="25992" y="1100755"/>
                </a:lnTo>
                <a:lnTo>
                  <a:pt x="22624" y="1097991"/>
                </a:lnTo>
                <a:lnTo>
                  <a:pt x="19528" y="1094895"/>
                </a:lnTo>
                <a:lnTo>
                  <a:pt x="16432" y="1091799"/>
                </a:lnTo>
                <a:lnTo>
                  <a:pt x="5075" y="1073264"/>
                </a:lnTo>
                <a:lnTo>
                  <a:pt x="3399" y="1069219"/>
                </a:lnTo>
                <a:lnTo>
                  <a:pt x="2135" y="1065050"/>
                </a:lnTo>
                <a:lnTo>
                  <a:pt x="1281" y="1060756"/>
                </a:lnTo>
                <a:lnTo>
                  <a:pt x="427" y="1056463"/>
                </a:lnTo>
                <a:lnTo>
                  <a:pt x="0" y="1052127"/>
                </a:lnTo>
                <a:lnTo>
                  <a:pt x="0" y="1047749"/>
                </a:lnTo>
                <a:close/>
              </a:path>
            </a:pathLst>
          </a:custGeom>
          <a:ln w="19049">
            <a:solidFill>
              <a:srgbClr val="BCDA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410574" y="2514599"/>
            <a:ext cx="76200" cy="1133475"/>
          </a:xfrm>
          <a:custGeom>
            <a:avLst/>
            <a:gdLst/>
            <a:ahLst/>
            <a:cxnLst/>
            <a:rect l="l" t="t" r="r" b="b"/>
            <a:pathLst>
              <a:path w="76200" h="1133475">
                <a:moveTo>
                  <a:pt x="76199" y="1133474"/>
                </a:moveTo>
                <a:lnTo>
                  <a:pt x="49451" y="1133474"/>
                </a:lnTo>
                <a:lnTo>
                  <a:pt x="46008" y="1133135"/>
                </a:lnTo>
                <a:lnTo>
                  <a:pt x="10849" y="1112841"/>
                </a:lnTo>
                <a:lnTo>
                  <a:pt x="0" y="1084023"/>
                </a:lnTo>
                <a:lnTo>
                  <a:pt x="0" y="1080548"/>
                </a:lnTo>
                <a:lnTo>
                  <a:pt x="0" y="49451"/>
                </a:lnTo>
                <a:lnTo>
                  <a:pt x="17958" y="13044"/>
                </a:lnTo>
                <a:lnTo>
                  <a:pt x="49451" y="0"/>
                </a:lnTo>
                <a:lnTo>
                  <a:pt x="76199" y="0"/>
                </a:lnTo>
                <a:lnTo>
                  <a:pt x="76199" y="1133474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929637" y="2665348"/>
            <a:ext cx="2170430" cy="7975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215" b="1">
                <a:solidFill>
                  <a:srgbClr val="333F6F"/>
                </a:solidFill>
                <a:latin typeface="Verdana"/>
                <a:cs typeface="Verdana"/>
              </a:rPr>
              <a:t>Data</a:t>
            </a:r>
            <a:r>
              <a:rPr dirty="0" sz="1450" spc="-114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450" spc="155" b="1">
                <a:solidFill>
                  <a:srgbClr val="333F6F"/>
                </a:solidFill>
                <a:latin typeface="Verdana"/>
                <a:cs typeface="Verdana"/>
              </a:rPr>
              <a:t>Structures</a:t>
            </a:r>
            <a:endParaRPr sz="1450">
              <a:latin typeface="Verdana"/>
              <a:cs typeface="Verdana"/>
            </a:endParaRPr>
          </a:p>
          <a:p>
            <a:pPr algn="ctr" marL="12700" marR="5080">
              <a:lnSpc>
                <a:spcPct val="119800"/>
              </a:lnSpc>
              <a:spcBef>
                <a:spcPts val="850"/>
              </a:spcBef>
            </a:pP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Arrays,</a:t>
            </a:r>
            <a:r>
              <a:rPr dirty="0" sz="1200" spc="-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vectors,</a:t>
            </a:r>
            <a:r>
              <a:rPr dirty="0" sz="1200" spc="-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simple</a:t>
            </a:r>
            <a:r>
              <a:rPr dirty="0" sz="1200" spc="-3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custom structures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72074" y="3781424"/>
            <a:ext cx="3114675" cy="1114425"/>
          </a:xfrm>
          <a:custGeom>
            <a:avLst/>
            <a:gdLst/>
            <a:ahLst/>
            <a:cxnLst/>
            <a:rect l="l" t="t" r="r" b="b"/>
            <a:pathLst>
              <a:path w="3114675" h="1114425">
                <a:moveTo>
                  <a:pt x="0" y="1047749"/>
                </a:moveTo>
                <a:lnTo>
                  <a:pt x="0" y="66674"/>
                </a:lnTo>
                <a:lnTo>
                  <a:pt x="0" y="62297"/>
                </a:lnTo>
                <a:lnTo>
                  <a:pt x="426" y="57960"/>
                </a:lnTo>
                <a:lnTo>
                  <a:pt x="1280" y="53667"/>
                </a:lnTo>
                <a:lnTo>
                  <a:pt x="2134" y="49373"/>
                </a:lnTo>
                <a:lnTo>
                  <a:pt x="3399" y="45203"/>
                </a:lnTo>
                <a:lnTo>
                  <a:pt x="5074" y="41159"/>
                </a:lnTo>
                <a:lnTo>
                  <a:pt x="6749" y="37114"/>
                </a:lnTo>
                <a:lnTo>
                  <a:pt x="8803" y="33272"/>
                </a:lnTo>
                <a:lnTo>
                  <a:pt x="11236" y="29631"/>
                </a:lnTo>
                <a:lnTo>
                  <a:pt x="13668" y="25991"/>
                </a:lnTo>
                <a:lnTo>
                  <a:pt x="16432" y="22623"/>
                </a:lnTo>
                <a:lnTo>
                  <a:pt x="19528" y="19528"/>
                </a:lnTo>
                <a:lnTo>
                  <a:pt x="22623" y="16432"/>
                </a:lnTo>
                <a:lnTo>
                  <a:pt x="25991" y="13668"/>
                </a:lnTo>
                <a:lnTo>
                  <a:pt x="29631" y="11236"/>
                </a:lnTo>
                <a:lnTo>
                  <a:pt x="33271" y="8804"/>
                </a:lnTo>
                <a:lnTo>
                  <a:pt x="37113" y="6750"/>
                </a:lnTo>
                <a:lnTo>
                  <a:pt x="41158" y="5075"/>
                </a:lnTo>
                <a:lnTo>
                  <a:pt x="45203" y="3399"/>
                </a:lnTo>
                <a:lnTo>
                  <a:pt x="49372" y="2135"/>
                </a:lnTo>
                <a:lnTo>
                  <a:pt x="53667" y="1281"/>
                </a:lnTo>
                <a:lnTo>
                  <a:pt x="57960" y="427"/>
                </a:lnTo>
                <a:lnTo>
                  <a:pt x="62296" y="0"/>
                </a:lnTo>
                <a:lnTo>
                  <a:pt x="66674" y="0"/>
                </a:lnTo>
                <a:lnTo>
                  <a:pt x="3071273" y="0"/>
                </a:lnTo>
                <a:lnTo>
                  <a:pt x="3077027" y="0"/>
                </a:lnTo>
                <a:lnTo>
                  <a:pt x="3082563" y="1101"/>
                </a:lnTo>
                <a:lnTo>
                  <a:pt x="3111369" y="26792"/>
                </a:lnTo>
                <a:lnTo>
                  <a:pt x="3113572" y="32109"/>
                </a:lnTo>
                <a:lnTo>
                  <a:pt x="3114674" y="37645"/>
                </a:lnTo>
                <a:lnTo>
                  <a:pt x="3114674" y="43401"/>
                </a:lnTo>
                <a:lnTo>
                  <a:pt x="3114674" y="1071023"/>
                </a:lnTo>
                <a:lnTo>
                  <a:pt x="3097891" y="1105781"/>
                </a:lnTo>
                <a:lnTo>
                  <a:pt x="3071273" y="1114424"/>
                </a:lnTo>
                <a:lnTo>
                  <a:pt x="66674" y="1114424"/>
                </a:lnTo>
                <a:lnTo>
                  <a:pt x="62296" y="1114424"/>
                </a:lnTo>
                <a:lnTo>
                  <a:pt x="57960" y="1113997"/>
                </a:lnTo>
                <a:lnTo>
                  <a:pt x="53667" y="1113143"/>
                </a:lnTo>
                <a:lnTo>
                  <a:pt x="49373" y="1112289"/>
                </a:lnTo>
                <a:lnTo>
                  <a:pt x="45203" y="1111024"/>
                </a:lnTo>
                <a:lnTo>
                  <a:pt x="41159" y="1109349"/>
                </a:lnTo>
                <a:lnTo>
                  <a:pt x="37114" y="1107673"/>
                </a:lnTo>
                <a:lnTo>
                  <a:pt x="33271" y="1105619"/>
                </a:lnTo>
                <a:lnTo>
                  <a:pt x="29631" y="1103187"/>
                </a:lnTo>
                <a:lnTo>
                  <a:pt x="25991" y="1100755"/>
                </a:lnTo>
                <a:lnTo>
                  <a:pt x="22623" y="1097991"/>
                </a:lnTo>
                <a:lnTo>
                  <a:pt x="19528" y="1094895"/>
                </a:lnTo>
                <a:lnTo>
                  <a:pt x="16432" y="1091800"/>
                </a:lnTo>
                <a:lnTo>
                  <a:pt x="13668" y="1088432"/>
                </a:lnTo>
                <a:lnTo>
                  <a:pt x="11236" y="1084792"/>
                </a:lnTo>
                <a:lnTo>
                  <a:pt x="8803" y="1081151"/>
                </a:lnTo>
                <a:lnTo>
                  <a:pt x="6749" y="1077309"/>
                </a:lnTo>
                <a:lnTo>
                  <a:pt x="5074" y="1073264"/>
                </a:lnTo>
                <a:lnTo>
                  <a:pt x="3399" y="1069219"/>
                </a:lnTo>
                <a:lnTo>
                  <a:pt x="2134" y="1065050"/>
                </a:lnTo>
                <a:lnTo>
                  <a:pt x="1280" y="1060756"/>
                </a:lnTo>
                <a:lnTo>
                  <a:pt x="426" y="1056463"/>
                </a:lnTo>
                <a:lnTo>
                  <a:pt x="0" y="1052127"/>
                </a:lnTo>
                <a:lnTo>
                  <a:pt x="0" y="1047749"/>
                </a:lnTo>
                <a:close/>
              </a:path>
            </a:pathLst>
          </a:custGeom>
          <a:ln w="19049">
            <a:solidFill>
              <a:srgbClr val="BCDA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62548" y="3771899"/>
            <a:ext cx="76200" cy="1133475"/>
          </a:xfrm>
          <a:custGeom>
            <a:avLst/>
            <a:gdLst/>
            <a:ahLst/>
            <a:cxnLst/>
            <a:rect l="l" t="t" r="r" b="b"/>
            <a:pathLst>
              <a:path w="76200" h="1133475">
                <a:moveTo>
                  <a:pt x="76200" y="1133474"/>
                </a:moveTo>
                <a:lnTo>
                  <a:pt x="35883" y="1130775"/>
                </a:lnTo>
                <a:lnTo>
                  <a:pt x="5358" y="1104012"/>
                </a:lnTo>
                <a:lnTo>
                  <a:pt x="0" y="1084023"/>
                </a:lnTo>
                <a:lnTo>
                  <a:pt x="0" y="1080548"/>
                </a:lnTo>
                <a:lnTo>
                  <a:pt x="0" y="49451"/>
                </a:lnTo>
                <a:lnTo>
                  <a:pt x="17958" y="13044"/>
                </a:lnTo>
                <a:lnTo>
                  <a:pt x="49452" y="0"/>
                </a:lnTo>
                <a:lnTo>
                  <a:pt x="76200" y="0"/>
                </a:lnTo>
                <a:lnTo>
                  <a:pt x="76200" y="1133474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870475" y="3922648"/>
            <a:ext cx="1794510" cy="578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60" b="1">
                <a:solidFill>
                  <a:srgbClr val="333F6F"/>
                </a:solidFill>
                <a:latin typeface="Verdana"/>
                <a:cs typeface="Verdana"/>
              </a:rPr>
              <a:t>File</a:t>
            </a:r>
            <a:r>
              <a:rPr dirty="0" sz="1450" spc="-114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450" spc="114" b="1">
                <a:solidFill>
                  <a:srgbClr val="333F6F"/>
                </a:solidFill>
                <a:latin typeface="Verdana"/>
                <a:cs typeface="Verdana"/>
              </a:rPr>
              <a:t>Handling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Persisting</a:t>
            </a:r>
            <a:r>
              <a:rPr dirty="0" sz="1200" spc="-3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records</a:t>
            </a:r>
            <a:r>
              <a:rPr dirty="0" sz="1200" spc="-2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to</a:t>
            </a:r>
            <a:r>
              <a:rPr dirty="0" sz="1200" spc="-3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files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20098" y="3781424"/>
            <a:ext cx="3114675" cy="1114425"/>
          </a:xfrm>
          <a:custGeom>
            <a:avLst/>
            <a:gdLst/>
            <a:ahLst/>
            <a:cxnLst/>
            <a:rect l="l" t="t" r="r" b="b"/>
            <a:pathLst>
              <a:path w="3114675" h="1114425">
                <a:moveTo>
                  <a:pt x="0" y="1047749"/>
                </a:moveTo>
                <a:lnTo>
                  <a:pt x="0" y="66674"/>
                </a:lnTo>
                <a:lnTo>
                  <a:pt x="0" y="62297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3"/>
                </a:lnTo>
                <a:lnTo>
                  <a:pt x="3399" y="45203"/>
                </a:lnTo>
                <a:lnTo>
                  <a:pt x="5075" y="41159"/>
                </a:lnTo>
                <a:lnTo>
                  <a:pt x="6750" y="37114"/>
                </a:lnTo>
                <a:lnTo>
                  <a:pt x="8804" y="33272"/>
                </a:lnTo>
                <a:lnTo>
                  <a:pt x="11236" y="29631"/>
                </a:lnTo>
                <a:lnTo>
                  <a:pt x="13668" y="25991"/>
                </a:lnTo>
                <a:lnTo>
                  <a:pt x="16432" y="22623"/>
                </a:lnTo>
                <a:lnTo>
                  <a:pt x="19528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29631" y="11236"/>
                </a:lnTo>
                <a:lnTo>
                  <a:pt x="33271" y="8804"/>
                </a:lnTo>
                <a:lnTo>
                  <a:pt x="37114" y="6750"/>
                </a:lnTo>
                <a:lnTo>
                  <a:pt x="41159" y="5075"/>
                </a:lnTo>
                <a:lnTo>
                  <a:pt x="45203" y="3399"/>
                </a:lnTo>
                <a:lnTo>
                  <a:pt x="49373" y="2135"/>
                </a:lnTo>
                <a:lnTo>
                  <a:pt x="53667" y="1281"/>
                </a:lnTo>
                <a:lnTo>
                  <a:pt x="57960" y="427"/>
                </a:lnTo>
                <a:lnTo>
                  <a:pt x="62297" y="0"/>
                </a:lnTo>
                <a:lnTo>
                  <a:pt x="66675" y="0"/>
                </a:lnTo>
                <a:lnTo>
                  <a:pt x="3071273" y="0"/>
                </a:lnTo>
                <a:lnTo>
                  <a:pt x="3077027" y="0"/>
                </a:lnTo>
                <a:lnTo>
                  <a:pt x="3082563" y="1101"/>
                </a:lnTo>
                <a:lnTo>
                  <a:pt x="3111369" y="26792"/>
                </a:lnTo>
                <a:lnTo>
                  <a:pt x="3113571" y="32109"/>
                </a:lnTo>
                <a:lnTo>
                  <a:pt x="3114674" y="37645"/>
                </a:lnTo>
                <a:lnTo>
                  <a:pt x="3114675" y="43401"/>
                </a:lnTo>
                <a:lnTo>
                  <a:pt x="3114675" y="1071023"/>
                </a:lnTo>
                <a:lnTo>
                  <a:pt x="3097891" y="1105781"/>
                </a:lnTo>
                <a:lnTo>
                  <a:pt x="3071273" y="1114424"/>
                </a:lnTo>
                <a:lnTo>
                  <a:pt x="66675" y="1114424"/>
                </a:lnTo>
                <a:lnTo>
                  <a:pt x="62297" y="1114424"/>
                </a:lnTo>
                <a:lnTo>
                  <a:pt x="41159" y="1109349"/>
                </a:lnTo>
                <a:lnTo>
                  <a:pt x="37114" y="1107673"/>
                </a:lnTo>
                <a:lnTo>
                  <a:pt x="33271" y="1105619"/>
                </a:lnTo>
                <a:lnTo>
                  <a:pt x="29631" y="1103187"/>
                </a:lnTo>
                <a:lnTo>
                  <a:pt x="25992" y="1100755"/>
                </a:lnTo>
                <a:lnTo>
                  <a:pt x="22624" y="1097991"/>
                </a:lnTo>
                <a:lnTo>
                  <a:pt x="19528" y="1094895"/>
                </a:lnTo>
                <a:lnTo>
                  <a:pt x="16432" y="1091800"/>
                </a:lnTo>
                <a:lnTo>
                  <a:pt x="5075" y="1073264"/>
                </a:lnTo>
                <a:lnTo>
                  <a:pt x="3399" y="1069219"/>
                </a:lnTo>
                <a:lnTo>
                  <a:pt x="2135" y="1065050"/>
                </a:lnTo>
                <a:lnTo>
                  <a:pt x="1281" y="1060756"/>
                </a:lnTo>
                <a:lnTo>
                  <a:pt x="427" y="1056463"/>
                </a:lnTo>
                <a:lnTo>
                  <a:pt x="0" y="1052127"/>
                </a:lnTo>
                <a:lnTo>
                  <a:pt x="0" y="1047749"/>
                </a:lnTo>
                <a:close/>
              </a:path>
            </a:pathLst>
          </a:custGeom>
          <a:ln w="19049">
            <a:solidFill>
              <a:srgbClr val="BCDA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410574" y="3771899"/>
            <a:ext cx="76200" cy="1133475"/>
          </a:xfrm>
          <a:custGeom>
            <a:avLst/>
            <a:gdLst/>
            <a:ahLst/>
            <a:cxnLst/>
            <a:rect l="l" t="t" r="r" b="b"/>
            <a:pathLst>
              <a:path w="76200" h="1133475">
                <a:moveTo>
                  <a:pt x="76199" y="1133474"/>
                </a:moveTo>
                <a:lnTo>
                  <a:pt x="35882" y="1130775"/>
                </a:lnTo>
                <a:lnTo>
                  <a:pt x="5357" y="1104012"/>
                </a:lnTo>
                <a:lnTo>
                  <a:pt x="0" y="1084023"/>
                </a:lnTo>
                <a:lnTo>
                  <a:pt x="0" y="1080548"/>
                </a:lnTo>
                <a:lnTo>
                  <a:pt x="0" y="49451"/>
                </a:lnTo>
                <a:lnTo>
                  <a:pt x="17958" y="13044"/>
                </a:lnTo>
                <a:lnTo>
                  <a:pt x="49451" y="0"/>
                </a:lnTo>
                <a:lnTo>
                  <a:pt x="76199" y="0"/>
                </a:lnTo>
                <a:lnTo>
                  <a:pt x="76199" y="1133474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959850" y="3922648"/>
            <a:ext cx="2110105" cy="7975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125" b="1">
                <a:solidFill>
                  <a:srgbClr val="333F6F"/>
                </a:solidFill>
                <a:latin typeface="Verdana"/>
                <a:cs typeface="Verdana"/>
              </a:rPr>
              <a:t>Debugging</a:t>
            </a:r>
            <a:endParaRPr sz="1450">
              <a:latin typeface="Verdana"/>
              <a:cs typeface="Verdana"/>
            </a:endParaRPr>
          </a:p>
          <a:p>
            <a:pPr algn="ctr" marL="12700" marR="5080">
              <a:lnSpc>
                <a:spcPct val="119800"/>
              </a:lnSpc>
              <a:spcBef>
                <a:spcPts val="850"/>
              </a:spcBef>
            </a:pPr>
            <a:r>
              <a:rPr dirty="0" sz="1200" spc="-20">
                <a:solidFill>
                  <a:srgbClr val="333F6F"/>
                </a:solidFill>
                <a:latin typeface="Open Sans"/>
                <a:cs typeface="Open Sans"/>
              </a:rPr>
              <a:t>Step-</a:t>
            </a: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wise</a:t>
            </a:r>
            <a:r>
              <a:rPr dirty="0" sz="1200" spc="-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diagnosis</a:t>
            </a:r>
            <a:r>
              <a:rPr dirty="0" sz="1200" spc="-3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200" spc="-3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20">
                <a:solidFill>
                  <a:srgbClr val="333F6F"/>
                </a:solidFill>
                <a:latin typeface="Open Sans"/>
                <a:cs typeface="Open Sans"/>
              </a:rPr>
              <a:t>error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handling</a:t>
            </a:r>
            <a:endParaRPr sz="1200">
              <a:latin typeface="Open Sans"/>
              <a:cs typeface="Open San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00849" y="5029199"/>
            <a:ext cx="3105150" cy="1114425"/>
          </a:xfrm>
          <a:custGeom>
            <a:avLst/>
            <a:gdLst/>
            <a:ahLst/>
            <a:cxnLst/>
            <a:rect l="l" t="t" r="r" b="b"/>
            <a:pathLst>
              <a:path w="3105150" h="1114425">
                <a:moveTo>
                  <a:pt x="0" y="1047749"/>
                </a:moveTo>
                <a:lnTo>
                  <a:pt x="0" y="66674"/>
                </a:lnTo>
                <a:lnTo>
                  <a:pt x="0" y="62296"/>
                </a:lnTo>
                <a:lnTo>
                  <a:pt x="427" y="57960"/>
                </a:lnTo>
                <a:lnTo>
                  <a:pt x="1281" y="53667"/>
                </a:lnTo>
                <a:lnTo>
                  <a:pt x="2135" y="49372"/>
                </a:lnTo>
                <a:lnTo>
                  <a:pt x="3400" y="45203"/>
                </a:lnTo>
                <a:lnTo>
                  <a:pt x="5075" y="41158"/>
                </a:lnTo>
                <a:lnTo>
                  <a:pt x="6750" y="37113"/>
                </a:lnTo>
                <a:lnTo>
                  <a:pt x="8804" y="33271"/>
                </a:lnTo>
                <a:lnTo>
                  <a:pt x="11237" y="29631"/>
                </a:lnTo>
                <a:lnTo>
                  <a:pt x="13668" y="25991"/>
                </a:lnTo>
                <a:lnTo>
                  <a:pt x="16433" y="22624"/>
                </a:lnTo>
                <a:lnTo>
                  <a:pt x="19529" y="19528"/>
                </a:lnTo>
                <a:lnTo>
                  <a:pt x="22624" y="16432"/>
                </a:lnTo>
                <a:lnTo>
                  <a:pt x="25992" y="13668"/>
                </a:lnTo>
                <a:lnTo>
                  <a:pt x="53667" y="1280"/>
                </a:lnTo>
                <a:lnTo>
                  <a:pt x="57961" y="426"/>
                </a:lnTo>
                <a:lnTo>
                  <a:pt x="62297" y="0"/>
                </a:lnTo>
                <a:lnTo>
                  <a:pt x="66675" y="0"/>
                </a:lnTo>
                <a:lnTo>
                  <a:pt x="3061748" y="0"/>
                </a:lnTo>
                <a:lnTo>
                  <a:pt x="3067502" y="0"/>
                </a:lnTo>
                <a:lnTo>
                  <a:pt x="3073039" y="1101"/>
                </a:lnTo>
                <a:lnTo>
                  <a:pt x="3101845" y="26792"/>
                </a:lnTo>
                <a:lnTo>
                  <a:pt x="3105150" y="43401"/>
                </a:lnTo>
                <a:lnTo>
                  <a:pt x="3105150" y="1071023"/>
                </a:lnTo>
                <a:lnTo>
                  <a:pt x="3088367" y="1105781"/>
                </a:lnTo>
                <a:lnTo>
                  <a:pt x="3061748" y="1114424"/>
                </a:lnTo>
                <a:lnTo>
                  <a:pt x="66675" y="1114424"/>
                </a:lnTo>
                <a:lnTo>
                  <a:pt x="62297" y="1114424"/>
                </a:lnTo>
                <a:lnTo>
                  <a:pt x="57961" y="1113997"/>
                </a:lnTo>
                <a:lnTo>
                  <a:pt x="53667" y="1113143"/>
                </a:lnTo>
                <a:lnTo>
                  <a:pt x="49373" y="1112289"/>
                </a:lnTo>
                <a:lnTo>
                  <a:pt x="16433" y="1091800"/>
                </a:lnTo>
                <a:lnTo>
                  <a:pt x="11237" y="1084792"/>
                </a:lnTo>
                <a:lnTo>
                  <a:pt x="8804" y="1081152"/>
                </a:lnTo>
                <a:lnTo>
                  <a:pt x="6750" y="1077309"/>
                </a:lnTo>
                <a:lnTo>
                  <a:pt x="5075" y="1073265"/>
                </a:lnTo>
                <a:lnTo>
                  <a:pt x="3400" y="1069220"/>
                </a:lnTo>
                <a:lnTo>
                  <a:pt x="2135" y="1065051"/>
                </a:lnTo>
                <a:lnTo>
                  <a:pt x="1281" y="1060757"/>
                </a:lnTo>
                <a:lnTo>
                  <a:pt x="427" y="1056463"/>
                </a:lnTo>
                <a:lnTo>
                  <a:pt x="0" y="1052128"/>
                </a:lnTo>
                <a:lnTo>
                  <a:pt x="0" y="1047749"/>
                </a:lnTo>
                <a:close/>
              </a:path>
            </a:pathLst>
          </a:custGeom>
          <a:ln w="19049">
            <a:solidFill>
              <a:srgbClr val="BCDA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91324" y="5019674"/>
            <a:ext cx="76200" cy="1133475"/>
          </a:xfrm>
          <a:custGeom>
            <a:avLst/>
            <a:gdLst/>
            <a:ahLst/>
            <a:cxnLst/>
            <a:rect l="l" t="t" r="r" b="b"/>
            <a:pathLst>
              <a:path w="76200" h="1133475">
                <a:moveTo>
                  <a:pt x="76200" y="1133474"/>
                </a:moveTo>
                <a:lnTo>
                  <a:pt x="49451" y="1133474"/>
                </a:lnTo>
                <a:lnTo>
                  <a:pt x="46009" y="1133136"/>
                </a:lnTo>
                <a:lnTo>
                  <a:pt x="10849" y="1112841"/>
                </a:lnTo>
                <a:lnTo>
                  <a:pt x="0" y="1084023"/>
                </a:lnTo>
                <a:lnTo>
                  <a:pt x="0" y="1080548"/>
                </a:lnTo>
                <a:lnTo>
                  <a:pt x="0" y="49451"/>
                </a:lnTo>
                <a:lnTo>
                  <a:pt x="17959" y="13044"/>
                </a:lnTo>
                <a:lnTo>
                  <a:pt x="49451" y="0"/>
                </a:lnTo>
                <a:lnTo>
                  <a:pt x="76200" y="0"/>
                </a:lnTo>
                <a:lnTo>
                  <a:pt x="76200" y="1133474"/>
                </a:lnTo>
                <a:close/>
              </a:path>
            </a:pathLst>
          </a:custGeom>
          <a:solidFill>
            <a:srgbClr val="25A6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98915" y="5170423"/>
            <a:ext cx="2384425" cy="8070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50" spc="125" b="1">
                <a:solidFill>
                  <a:srgbClr val="333F6F"/>
                </a:solidFill>
                <a:latin typeface="Verdana"/>
                <a:cs typeface="Verdana"/>
              </a:rPr>
              <a:t>Problem</a:t>
            </a:r>
            <a:r>
              <a:rPr dirty="0" sz="1450" spc="-12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450" spc="105" b="1">
                <a:solidFill>
                  <a:srgbClr val="333F6F"/>
                </a:solidFill>
                <a:latin typeface="Verdana"/>
                <a:cs typeface="Verdana"/>
              </a:rPr>
              <a:t>Solving</a:t>
            </a:r>
            <a:endParaRPr sz="1450">
              <a:latin typeface="Verdana"/>
              <a:cs typeface="Verdana"/>
            </a:endParaRPr>
          </a:p>
          <a:p>
            <a:pPr algn="ctr" marL="12065" marR="5080">
              <a:lnSpc>
                <a:spcPct val="119800"/>
              </a:lnSpc>
              <a:spcBef>
                <a:spcPts val="925"/>
              </a:spcBef>
            </a:pP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Algorithmic</a:t>
            </a:r>
            <a:r>
              <a:rPr dirty="0" sz="1200" spc="-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thinking</a:t>
            </a:r>
            <a:r>
              <a:rPr dirty="0" sz="1200" spc="-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>
                <a:solidFill>
                  <a:srgbClr val="333F6F"/>
                </a:solidFill>
                <a:latin typeface="Open Sans"/>
                <a:cs typeface="Open Sans"/>
              </a:rPr>
              <a:t>&amp;</a:t>
            </a:r>
            <a:r>
              <a:rPr dirty="0" sz="1200" spc="-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200" spc="-20">
                <a:solidFill>
                  <a:srgbClr val="333F6F"/>
                </a:solidFill>
                <a:latin typeface="Open Sans"/>
                <a:cs typeface="Open Sans"/>
              </a:rPr>
              <a:t>test-</a:t>
            </a:r>
            <a:r>
              <a:rPr dirty="0" sz="1200" spc="-10">
                <a:solidFill>
                  <a:srgbClr val="333F6F"/>
                </a:solidFill>
                <a:latin typeface="Open Sans"/>
                <a:cs typeface="Open Sans"/>
              </a:rPr>
              <a:t>driven fixes</a:t>
            </a:r>
            <a:endParaRPr sz="12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990472"/>
            <a:ext cx="434848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54"/>
              <a:t>Projects</a:t>
            </a:r>
            <a:r>
              <a:rPr dirty="0" spc="-270"/>
              <a:t> </a:t>
            </a:r>
            <a:r>
              <a:rPr dirty="0" spc="215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1857375"/>
            <a:ext cx="1476374" cy="1847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8525" y="1857375"/>
            <a:ext cx="1476374" cy="18478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0300" y="1857375"/>
            <a:ext cx="1476374" cy="18478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91600" y="1857375"/>
            <a:ext cx="1476374" cy="18478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8840" y="3932554"/>
            <a:ext cx="2513330" cy="157607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477520">
              <a:lnSpc>
                <a:spcPct val="104700"/>
              </a:lnSpc>
              <a:spcBef>
                <a:spcPts val="5"/>
              </a:spcBef>
            </a:pPr>
            <a:r>
              <a:rPr dirty="0" sz="1850" spc="185" b="1">
                <a:solidFill>
                  <a:srgbClr val="333F6F"/>
                </a:solidFill>
                <a:latin typeface="Verdana"/>
                <a:cs typeface="Verdana"/>
              </a:rPr>
              <a:t>Student </a:t>
            </a:r>
            <a:r>
              <a:rPr dirty="0" sz="1850" spc="225" b="1">
                <a:solidFill>
                  <a:srgbClr val="333F6F"/>
                </a:solidFill>
                <a:latin typeface="Verdana"/>
                <a:cs typeface="Verdana"/>
              </a:rPr>
              <a:t>Management </a:t>
            </a:r>
            <a:r>
              <a:rPr dirty="0" sz="1850" spc="204" b="1">
                <a:solidFill>
                  <a:srgbClr val="333F6F"/>
                </a:solidFill>
                <a:latin typeface="Verdana"/>
                <a:cs typeface="Verdana"/>
              </a:rPr>
              <a:t>System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3600"/>
              </a:lnSpc>
              <a:spcBef>
                <a:spcPts val="67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Record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management,</a:t>
            </a:r>
            <a:r>
              <a:rPr dirty="0" sz="1450" spc="5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search,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update,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reports.</a:t>
            </a:r>
            <a:endParaRPr sz="1450">
              <a:latin typeface="Open Sans"/>
              <a:cs typeface="Open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5080" y="3932554"/>
            <a:ext cx="2040255" cy="188087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5"/>
              </a:spcBef>
            </a:pPr>
            <a:r>
              <a:rPr dirty="0" sz="1850" spc="175" b="1">
                <a:solidFill>
                  <a:srgbClr val="333F6F"/>
                </a:solidFill>
                <a:latin typeface="Verdana"/>
                <a:cs typeface="Verdana"/>
              </a:rPr>
              <a:t>Bank </a:t>
            </a:r>
            <a:r>
              <a:rPr dirty="0" sz="1850" spc="225" b="1">
                <a:solidFill>
                  <a:srgbClr val="333F6F"/>
                </a:solidFill>
                <a:latin typeface="Verdana"/>
                <a:cs typeface="Verdana"/>
              </a:rPr>
              <a:t>Management </a:t>
            </a:r>
            <a:r>
              <a:rPr dirty="0" sz="1850" spc="150" b="1">
                <a:solidFill>
                  <a:srgbClr val="333F6F"/>
                </a:solidFill>
                <a:latin typeface="Verdana"/>
                <a:cs typeface="Verdana"/>
              </a:rPr>
              <a:t>Application</a:t>
            </a:r>
            <a:endParaRPr sz="1850">
              <a:latin typeface="Verdana"/>
              <a:cs typeface="Verdana"/>
            </a:endParaRPr>
          </a:p>
          <a:p>
            <a:pPr marL="12700" marR="271780">
              <a:lnSpc>
                <a:spcPct val="135800"/>
              </a:lnSpc>
              <a:spcBef>
                <a:spcPts val="63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Account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creation, deposit/withdrawal, transactions.</a:t>
            </a:r>
            <a:endParaRPr sz="1450">
              <a:latin typeface="Open Sans"/>
              <a:cs typeface="Open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1320" y="3932554"/>
            <a:ext cx="2099945" cy="157607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64769">
              <a:lnSpc>
                <a:spcPct val="104700"/>
              </a:lnSpc>
              <a:spcBef>
                <a:spcPts val="5"/>
              </a:spcBef>
            </a:pPr>
            <a:r>
              <a:rPr dirty="0" sz="1850" spc="140" b="1">
                <a:solidFill>
                  <a:srgbClr val="333F6F"/>
                </a:solidFill>
                <a:latin typeface="Verdana"/>
                <a:cs typeface="Verdana"/>
              </a:rPr>
              <a:t>Library </a:t>
            </a:r>
            <a:r>
              <a:rPr dirty="0" sz="1850" spc="225" b="1">
                <a:solidFill>
                  <a:srgbClr val="333F6F"/>
                </a:solidFill>
                <a:latin typeface="Verdana"/>
                <a:cs typeface="Verdana"/>
              </a:rPr>
              <a:t>Management </a:t>
            </a:r>
            <a:r>
              <a:rPr dirty="0" sz="1850" spc="204" b="1">
                <a:solidFill>
                  <a:srgbClr val="333F6F"/>
                </a:solidFill>
                <a:latin typeface="Verdana"/>
                <a:cs typeface="Verdana"/>
              </a:rPr>
              <a:t>System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3600"/>
              </a:lnSpc>
              <a:spcBef>
                <a:spcPts val="67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Book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cataloging,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issue/return</a:t>
            </a:r>
            <a:r>
              <a:rPr dirty="0" sz="1450" spc="1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workflows.</a:t>
            </a:r>
            <a:endParaRPr sz="1450">
              <a:latin typeface="Open Sans"/>
              <a:cs typeface="Open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7560" y="3932554"/>
            <a:ext cx="2272030" cy="158559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683895">
              <a:lnSpc>
                <a:spcPct val="104700"/>
              </a:lnSpc>
              <a:spcBef>
                <a:spcPts val="5"/>
              </a:spcBef>
            </a:pPr>
            <a:r>
              <a:rPr dirty="0" sz="1850" spc="140" b="1">
                <a:solidFill>
                  <a:srgbClr val="333F6F"/>
                </a:solidFill>
                <a:latin typeface="Verdana"/>
                <a:cs typeface="Verdana"/>
              </a:rPr>
              <a:t>Mini</a:t>
            </a:r>
            <a:r>
              <a:rPr dirty="0" sz="1850" spc="-17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220" b="1">
                <a:solidFill>
                  <a:srgbClr val="333F6F"/>
                </a:solidFill>
                <a:latin typeface="Verdana"/>
                <a:cs typeface="Verdana"/>
              </a:rPr>
              <a:t>Game </a:t>
            </a:r>
            <a:r>
              <a:rPr dirty="0" sz="1850" spc="125" b="1">
                <a:solidFill>
                  <a:srgbClr val="333F6F"/>
                </a:solidFill>
                <a:latin typeface="Verdana"/>
                <a:cs typeface="Verdana"/>
              </a:rPr>
              <a:t>Project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35800"/>
              </a:lnSpc>
              <a:spcBef>
                <a:spcPts val="63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Tic</a:t>
            </a:r>
            <a:r>
              <a:rPr dirty="0" sz="1450" spc="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Tac</a:t>
            </a:r>
            <a:r>
              <a:rPr dirty="0" sz="1450" spc="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Toe</a:t>
            </a:r>
            <a:r>
              <a:rPr dirty="0" sz="1450" spc="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&amp;</a:t>
            </a:r>
            <a:r>
              <a:rPr dirty="0" sz="1450" spc="4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Snake</a:t>
            </a:r>
            <a:r>
              <a:rPr dirty="0" sz="1450" spc="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50">
                <a:solidFill>
                  <a:srgbClr val="333F6F"/>
                </a:solidFill>
                <a:latin typeface="Open Sans"/>
                <a:cs typeface="Open Sans"/>
              </a:rPr>
              <a:t>—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interactive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logic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state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management.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90423"/>
            <a:ext cx="957008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25"/>
              <a:t>Project</a:t>
            </a:r>
            <a:r>
              <a:rPr dirty="0" spc="-260"/>
              <a:t> </a:t>
            </a:r>
            <a:r>
              <a:rPr dirty="0" spc="615"/>
              <a:t>—</a:t>
            </a:r>
            <a:r>
              <a:rPr dirty="0" spc="-254"/>
              <a:t> </a:t>
            </a:r>
            <a:r>
              <a:rPr dirty="0" spc="315"/>
              <a:t>Student</a:t>
            </a:r>
            <a:r>
              <a:rPr dirty="0" spc="-260"/>
              <a:t> </a:t>
            </a:r>
            <a:r>
              <a:rPr dirty="0" spc="380"/>
              <a:t>Management</a:t>
            </a:r>
            <a:r>
              <a:rPr dirty="0" spc="-254"/>
              <a:t> </a:t>
            </a:r>
            <a:r>
              <a:rPr dirty="0" spc="340"/>
              <a:t>System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2152649"/>
            <a:ext cx="66675" cy="66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2333625"/>
            <a:ext cx="5210174" cy="2943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2514599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2886074"/>
            <a:ext cx="66675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3867149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4229099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4600574"/>
            <a:ext cx="66675" cy="6667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334123" y="5000625"/>
            <a:ext cx="5210175" cy="1038225"/>
            <a:chOff x="6334123" y="5000625"/>
            <a:chExt cx="5210175" cy="1038225"/>
          </a:xfrm>
        </p:grpSpPr>
        <p:sp>
          <p:nvSpPr>
            <p:cNvPr id="11" name="object 11"/>
            <p:cNvSpPr/>
            <p:nvPr/>
          </p:nvSpPr>
          <p:spPr>
            <a:xfrm>
              <a:off x="6334123" y="5000625"/>
              <a:ext cx="5210175" cy="1038225"/>
            </a:xfrm>
            <a:custGeom>
              <a:avLst/>
              <a:gdLst/>
              <a:ahLst/>
              <a:cxnLst/>
              <a:rect l="l" t="t" r="r" b="b"/>
              <a:pathLst>
                <a:path w="5210175" h="1038225">
                  <a:moveTo>
                    <a:pt x="5148361" y="1038223"/>
                  </a:moveTo>
                  <a:lnTo>
                    <a:pt x="61814" y="1038223"/>
                  </a:lnTo>
                  <a:lnTo>
                    <a:pt x="57511" y="1037799"/>
                  </a:lnTo>
                  <a:lnTo>
                    <a:pt x="22448" y="1021917"/>
                  </a:lnTo>
                  <a:lnTo>
                    <a:pt x="2117" y="989232"/>
                  </a:lnTo>
                  <a:lnTo>
                    <a:pt x="0" y="976409"/>
                  </a:lnTo>
                  <a:lnTo>
                    <a:pt x="0" y="972066"/>
                  </a:lnTo>
                  <a:lnTo>
                    <a:pt x="0" y="61813"/>
                  </a:lnTo>
                  <a:lnTo>
                    <a:pt x="13562" y="25789"/>
                  </a:lnTo>
                  <a:lnTo>
                    <a:pt x="44853" y="3373"/>
                  </a:lnTo>
                  <a:lnTo>
                    <a:pt x="61814" y="0"/>
                  </a:lnTo>
                  <a:lnTo>
                    <a:pt x="5148361" y="0"/>
                  </a:lnTo>
                  <a:lnTo>
                    <a:pt x="5184383" y="13562"/>
                  </a:lnTo>
                  <a:lnTo>
                    <a:pt x="5206798" y="44852"/>
                  </a:lnTo>
                  <a:lnTo>
                    <a:pt x="5210174" y="61813"/>
                  </a:lnTo>
                  <a:lnTo>
                    <a:pt x="5210174" y="976409"/>
                  </a:lnTo>
                  <a:lnTo>
                    <a:pt x="5196610" y="1012432"/>
                  </a:lnTo>
                  <a:lnTo>
                    <a:pt x="5165320" y="1034849"/>
                  </a:lnTo>
                  <a:lnTo>
                    <a:pt x="5152663" y="1037799"/>
                  </a:lnTo>
                  <a:lnTo>
                    <a:pt x="5148361" y="1038223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0027" y="5298187"/>
              <a:ext cx="165385" cy="16538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323359" y="1541780"/>
            <a:ext cx="4250690" cy="42525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35" b="1">
                <a:solidFill>
                  <a:srgbClr val="333F6F"/>
                </a:solidFill>
                <a:latin typeface="Verdana"/>
                <a:cs typeface="Verdana"/>
              </a:rPr>
              <a:t>Overview</a:t>
            </a:r>
            <a:r>
              <a:rPr dirty="0" sz="1850" spc="-22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40" b="1">
                <a:solidFill>
                  <a:srgbClr val="333F6F"/>
                </a:solidFill>
                <a:latin typeface="Verdana"/>
                <a:cs typeface="Verdana"/>
              </a:rPr>
              <a:t>&amp;</a:t>
            </a:r>
            <a:r>
              <a:rPr dirty="0" sz="1850" spc="-24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75" b="1">
                <a:solidFill>
                  <a:srgbClr val="333F6F"/>
                </a:solidFill>
                <a:latin typeface="Verdana"/>
                <a:cs typeface="Verdana"/>
              </a:rPr>
              <a:t>Features</a:t>
            </a:r>
            <a:endParaRPr sz="1850">
              <a:latin typeface="Verdana"/>
              <a:cs typeface="Verdana"/>
            </a:endParaRPr>
          </a:p>
          <a:p>
            <a:pPr marL="314960" marR="784860">
              <a:lnSpc>
                <a:spcPct val="163800"/>
              </a:lnSpc>
              <a:spcBef>
                <a:spcPts val="74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Add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/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View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/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Search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student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records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Update</a:t>
            </a:r>
            <a:r>
              <a:rPr dirty="0" sz="1450" spc="6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&amp;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Delete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records</a:t>
            </a:r>
            <a:endParaRPr sz="1450">
              <a:latin typeface="Open Sans"/>
              <a:cs typeface="Open Sans"/>
            </a:endParaRPr>
          </a:p>
          <a:p>
            <a:pPr marL="314960">
              <a:lnSpc>
                <a:spcPct val="100000"/>
              </a:lnSpc>
              <a:spcBef>
                <a:spcPts val="118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File-based</a:t>
            </a:r>
            <a:r>
              <a:rPr dirty="0" sz="1450" spc="10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persistence</a:t>
            </a:r>
            <a:r>
              <a:rPr dirty="0" sz="1450" spc="11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11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formatted</a:t>
            </a:r>
            <a:r>
              <a:rPr dirty="0" sz="1450" spc="10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output</a:t>
            </a:r>
            <a:endParaRPr sz="14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dirty="0" sz="1850" spc="235" b="1">
                <a:solidFill>
                  <a:srgbClr val="333F6F"/>
                </a:solidFill>
                <a:latin typeface="Verdana"/>
                <a:cs typeface="Verdana"/>
              </a:rPr>
              <a:t>Concepts</a:t>
            </a:r>
            <a:r>
              <a:rPr dirty="0" sz="1850" spc="-15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65" b="1">
                <a:solidFill>
                  <a:srgbClr val="333F6F"/>
                </a:solidFill>
                <a:latin typeface="Verdana"/>
                <a:cs typeface="Verdana"/>
              </a:rPr>
              <a:t>Used</a:t>
            </a:r>
            <a:endParaRPr sz="1850">
              <a:latin typeface="Verdana"/>
              <a:cs typeface="Verdana"/>
            </a:endParaRPr>
          </a:p>
          <a:p>
            <a:pPr marL="314960">
              <a:lnSpc>
                <a:spcPct val="100000"/>
              </a:lnSpc>
              <a:spcBef>
                <a:spcPts val="185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Classes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&amp;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Objects</a:t>
            </a:r>
            <a:endParaRPr sz="1450">
              <a:latin typeface="Open Sans"/>
              <a:cs typeface="Open Sans"/>
            </a:endParaRPr>
          </a:p>
          <a:p>
            <a:pPr marL="314960" marR="303530">
              <a:lnSpc>
                <a:spcPts val="2930"/>
              </a:lnSpc>
              <a:spcBef>
                <a:spcPts val="21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Functions,</a:t>
            </a:r>
            <a:r>
              <a:rPr dirty="0" sz="1450" spc="1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loops,</a:t>
            </a:r>
            <a:r>
              <a:rPr dirty="0" sz="1450" spc="1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conditional</a:t>
            </a:r>
            <a:r>
              <a:rPr dirty="0" sz="1450" spc="1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statements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File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handling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structured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data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storage</a:t>
            </a:r>
            <a:endParaRPr sz="145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450">
              <a:latin typeface="Open Sans"/>
              <a:cs typeface="Open Sans"/>
            </a:endParaRPr>
          </a:p>
          <a:p>
            <a:pPr marL="626745" marR="241300">
              <a:lnSpc>
                <a:spcPct val="137900"/>
              </a:lnSpc>
            </a:pPr>
            <a:r>
              <a:rPr dirty="0" sz="1450">
                <a:latin typeface="Open Sans"/>
                <a:cs typeface="Open Sans"/>
              </a:rPr>
              <a:t>Placeholder:</a:t>
            </a:r>
            <a:r>
              <a:rPr dirty="0" sz="1450" spc="11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include</a:t>
            </a:r>
            <a:r>
              <a:rPr dirty="0" sz="1450" spc="114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screenshot</a:t>
            </a:r>
            <a:r>
              <a:rPr dirty="0" sz="1450" spc="110">
                <a:latin typeface="Open Sans"/>
                <a:cs typeface="Open Sans"/>
              </a:rPr>
              <a:t> </a:t>
            </a:r>
            <a:r>
              <a:rPr dirty="0" sz="1450" spc="-25">
                <a:latin typeface="Open Sans"/>
                <a:cs typeface="Open Sans"/>
              </a:rPr>
              <a:t>of </a:t>
            </a:r>
            <a:r>
              <a:rPr dirty="0" sz="1450">
                <a:latin typeface="Open Sans"/>
                <a:cs typeface="Open Sans"/>
              </a:rPr>
              <a:t>student_records.txt</a:t>
            </a:r>
            <a:r>
              <a:rPr dirty="0" sz="1450" spc="11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or</a:t>
            </a:r>
            <a:r>
              <a:rPr dirty="0" sz="1450" spc="114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console</a:t>
            </a:r>
            <a:r>
              <a:rPr dirty="0" sz="1450" spc="114">
                <a:latin typeface="Open Sans"/>
                <a:cs typeface="Open Sans"/>
              </a:rPr>
              <a:t> </a:t>
            </a:r>
            <a:r>
              <a:rPr dirty="0" sz="1450" spc="-10">
                <a:latin typeface="Open Sans"/>
                <a:cs typeface="Open Sans"/>
              </a:rPr>
              <a:t>output.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590423"/>
            <a:ext cx="976947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25"/>
              <a:t>Project</a:t>
            </a:r>
            <a:r>
              <a:rPr dirty="0" spc="-260"/>
              <a:t> </a:t>
            </a:r>
            <a:r>
              <a:rPr dirty="0" spc="615"/>
              <a:t>—</a:t>
            </a:r>
            <a:r>
              <a:rPr dirty="0" spc="-260"/>
              <a:t> </a:t>
            </a:r>
            <a:r>
              <a:rPr dirty="0" spc="315"/>
              <a:t>Bank</a:t>
            </a:r>
            <a:r>
              <a:rPr dirty="0" spc="-254"/>
              <a:t> </a:t>
            </a:r>
            <a:r>
              <a:rPr dirty="0" spc="380"/>
              <a:t>Management</a:t>
            </a:r>
            <a:r>
              <a:rPr dirty="0" spc="-360"/>
              <a:t> </a:t>
            </a:r>
            <a:r>
              <a:rPr dirty="0" spc="254"/>
              <a:t>Application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2152649"/>
            <a:ext cx="66675" cy="66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2333625"/>
            <a:ext cx="5210174" cy="2943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2514599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2886074"/>
            <a:ext cx="66675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3867149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4229099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4600574"/>
            <a:ext cx="66675" cy="6667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334123" y="5000625"/>
            <a:ext cx="5210175" cy="1038225"/>
            <a:chOff x="6334123" y="5000625"/>
            <a:chExt cx="5210175" cy="1038225"/>
          </a:xfrm>
        </p:grpSpPr>
        <p:sp>
          <p:nvSpPr>
            <p:cNvPr id="11" name="object 11"/>
            <p:cNvSpPr/>
            <p:nvPr/>
          </p:nvSpPr>
          <p:spPr>
            <a:xfrm>
              <a:off x="6334123" y="5000625"/>
              <a:ext cx="5210175" cy="1038225"/>
            </a:xfrm>
            <a:custGeom>
              <a:avLst/>
              <a:gdLst/>
              <a:ahLst/>
              <a:cxnLst/>
              <a:rect l="l" t="t" r="r" b="b"/>
              <a:pathLst>
                <a:path w="5210175" h="1038225">
                  <a:moveTo>
                    <a:pt x="5148361" y="1038223"/>
                  </a:moveTo>
                  <a:lnTo>
                    <a:pt x="61814" y="1038223"/>
                  </a:lnTo>
                  <a:lnTo>
                    <a:pt x="57511" y="1037799"/>
                  </a:lnTo>
                  <a:lnTo>
                    <a:pt x="22448" y="1021917"/>
                  </a:lnTo>
                  <a:lnTo>
                    <a:pt x="2117" y="989232"/>
                  </a:lnTo>
                  <a:lnTo>
                    <a:pt x="0" y="976409"/>
                  </a:lnTo>
                  <a:lnTo>
                    <a:pt x="0" y="972066"/>
                  </a:lnTo>
                  <a:lnTo>
                    <a:pt x="0" y="61813"/>
                  </a:lnTo>
                  <a:lnTo>
                    <a:pt x="13562" y="25789"/>
                  </a:lnTo>
                  <a:lnTo>
                    <a:pt x="44853" y="3373"/>
                  </a:lnTo>
                  <a:lnTo>
                    <a:pt x="61814" y="0"/>
                  </a:lnTo>
                  <a:lnTo>
                    <a:pt x="5148361" y="0"/>
                  </a:lnTo>
                  <a:lnTo>
                    <a:pt x="5184383" y="13562"/>
                  </a:lnTo>
                  <a:lnTo>
                    <a:pt x="5206798" y="44852"/>
                  </a:lnTo>
                  <a:lnTo>
                    <a:pt x="5210174" y="61813"/>
                  </a:lnTo>
                  <a:lnTo>
                    <a:pt x="5210174" y="976409"/>
                  </a:lnTo>
                  <a:lnTo>
                    <a:pt x="5196610" y="1012432"/>
                  </a:lnTo>
                  <a:lnTo>
                    <a:pt x="5165320" y="1034849"/>
                  </a:lnTo>
                  <a:lnTo>
                    <a:pt x="5152663" y="1037799"/>
                  </a:lnTo>
                  <a:lnTo>
                    <a:pt x="5148361" y="1038223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0027" y="5298187"/>
              <a:ext cx="165385" cy="16538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323359" y="1541780"/>
            <a:ext cx="3909695" cy="42525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90" b="1">
                <a:solidFill>
                  <a:srgbClr val="333F6F"/>
                </a:solidFill>
                <a:latin typeface="Verdana"/>
                <a:cs typeface="Verdana"/>
              </a:rPr>
              <a:t>Core</a:t>
            </a:r>
            <a:r>
              <a:rPr dirty="0" sz="1850" spc="-17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75" b="1">
                <a:solidFill>
                  <a:srgbClr val="333F6F"/>
                </a:solidFill>
                <a:latin typeface="Verdana"/>
                <a:cs typeface="Verdana"/>
              </a:rPr>
              <a:t>Features</a:t>
            </a:r>
            <a:endParaRPr sz="1850">
              <a:latin typeface="Verdana"/>
              <a:cs typeface="Verdana"/>
            </a:endParaRPr>
          </a:p>
          <a:p>
            <a:pPr marL="314960">
              <a:lnSpc>
                <a:spcPct val="100000"/>
              </a:lnSpc>
              <a:spcBef>
                <a:spcPts val="185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Create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&amp;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manage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accounts</a:t>
            </a:r>
            <a:endParaRPr sz="1450">
              <a:latin typeface="Open Sans"/>
              <a:cs typeface="Open Sans"/>
            </a:endParaRPr>
          </a:p>
          <a:p>
            <a:pPr marL="314960" marR="5080">
              <a:lnSpc>
                <a:spcPts val="2930"/>
              </a:lnSpc>
              <a:spcBef>
                <a:spcPts val="21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Deposit,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withdrawal,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1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balance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inquiry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Basic</a:t>
            </a:r>
            <a:r>
              <a:rPr dirty="0" sz="1450" spc="8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transaction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history</a:t>
            </a:r>
            <a:r>
              <a:rPr dirty="0" sz="1450" spc="8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validation</a:t>
            </a:r>
            <a:endParaRPr sz="14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1850" spc="165" b="1">
                <a:solidFill>
                  <a:srgbClr val="333F6F"/>
                </a:solidFill>
                <a:latin typeface="Verdana"/>
                <a:cs typeface="Verdana"/>
              </a:rPr>
              <a:t>Programming</a:t>
            </a:r>
            <a:r>
              <a:rPr dirty="0" sz="1850" spc="-16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200" b="1">
                <a:solidFill>
                  <a:srgbClr val="333F6F"/>
                </a:solidFill>
                <a:latin typeface="Verdana"/>
                <a:cs typeface="Verdana"/>
              </a:rPr>
              <a:t>Focus</a:t>
            </a:r>
            <a:endParaRPr sz="1850">
              <a:latin typeface="Verdana"/>
              <a:cs typeface="Verdana"/>
            </a:endParaRPr>
          </a:p>
          <a:p>
            <a:pPr marL="314960">
              <a:lnSpc>
                <a:spcPct val="100000"/>
              </a:lnSpc>
              <a:spcBef>
                <a:spcPts val="185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Encapsulation</a:t>
            </a:r>
            <a:r>
              <a:rPr dirty="0" sz="1450" spc="11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with</a:t>
            </a:r>
            <a:r>
              <a:rPr dirty="0" sz="1450" spc="114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classes</a:t>
            </a:r>
            <a:endParaRPr sz="1450">
              <a:latin typeface="Open Sans"/>
              <a:cs typeface="Open Sans"/>
            </a:endParaRPr>
          </a:p>
          <a:p>
            <a:pPr marL="314960" marR="509270">
              <a:lnSpc>
                <a:spcPts val="2930"/>
              </a:lnSpc>
              <a:spcBef>
                <a:spcPts val="21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Input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validation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error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handling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Persistent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storage</a:t>
            </a:r>
            <a:r>
              <a:rPr dirty="0" sz="1450" spc="1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using</a:t>
            </a:r>
            <a:r>
              <a:rPr dirty="0" sz="1450" spc="10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files</a:t>
            </a:r>
            <a:endParaRPr sz="145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450">
              <a:latin typeface="Open Sans"/>
              <a:cs typeface="Open Sans"/>
            </a:endParaRPr>
          </a:p>
          <a:p>
            <a:pPr marL="626745" marR="407034">
              <a:lnSpc>
                <a:spcPct val="137900"/>
              </a:lnSpc>
            </a:pPr>
            <a:r>
              <a:rPr dirty="0" sz="1450">
                <a:latin typeface="Open Sans"/>
                <a:cs typeface="Open Sans"/>
              </a:rPr>
              <a:t>Placeholder</a:t>
            </a:r>
            <a:r>
              <a:rPr dirty="0" sz="1450" spc="7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for</a:t>
            </a:r>
            <a:r>
              <a:rPr dirty="0" sz="1450" spc="8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console</a:t>
            </a:r>
            <a:r>
              <a:rPr dirty="0" sz="1450" spc="8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demo</a:t>
            </a:r>
            <a:r>
              <a:rPr dirty="0" sz="1450" spc="80">
                <a:latin typeface="Open Sans"/>
                <a:cs typeface="Open Sans"/>
              </a:rPr>
              <a:t> </a:t>
            </a:r>
            <a:r>
              <a:rPr dirty="0" sz="1450" spc="-25">
                <a:latin typeface="Open Sans"/>
                <a:cs typeface="Open Sans"/>
              </a:rPr>
              <a:t>or </a:t>
            </a:r>
            <a:r>
              <a:rPr dirty="0" sz="1450">
                <a:latin typeface="Open Sans"/>
                <a:cs typeface="Open Sans"/>
              </a:rPr>
              <a:t>account_summary</a:t>
            </a:r>
            <a:r>
              <a:rPr dirty="0" sz="1450" spc="200">
                <a:latin typeface="Open Sans"/>
                <a:cs typeface="Open Sans"/>
              </a:rPr>
              <a:t> </a:t>
            </a:r>
            <a:r>
              <a:rPr dirty="0" sz="1450" spc="-10">
                <a:latin typeface="Open Sans"/>
                <a:cs typeface="Open Sans"/>
              </a:rPr>
              <a:t>screenshot.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6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25"/>
              <a:t>Project</a:t>
            </a:r>
            <a:r>
              <a:rPr dirty="0" spc="-260"/>
              <a:t> </a:t>
            </a:r>
            <a:r>
              <a:rPr dirty="0" spc="615"/>
              <a:t>—</a:t>
            </a:r>
            <a:r>
              <a:rPr dirty="0" spc="-260"/>
              <a:t> </a:t>
            </a:r>
            <a:r>
              <a:rPr dirty="0" spc="254"/>
              <a:t>Library</a:t>
            </a:r>
            <a:r>
              <a:rPr dirty="0" spc="-345"/>
              <a:t> </a:t>
            </a:r>
            <a:r>
              <a:rPr dirty="0" spc="380"/>
              <a:t>Management</a:t>
            </a:r>
            <a:r>
              <a:rPr dirty="0" spc="-260"/>
              <a:t> </a:t>
            </a:r>
            <a:r>
              <a:rPr dirty="0" spc="225"/>
              <a:t>&amp;</a:t>
            </a:r>
            <a:r>
              <a:rPr dirty="0" spc="-375"/>
              <a:t> </a:t>
            </a:r>
            <a:r>
              <a:rPr dirty="0" spc="235"/>
              <a:t>Mini</a:t>
            </a:r>
            <a:r>
              <a:rPr dirty="0" spc="-260"/>
              <a:t> </a:t>
            </a:r>
            <a:r>
              <a:rPr dirty="0" spc="380"/>
              <a:t>Game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2514600"/>
            <a:ext cx="552449" cy="685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31379" y="2503804"/>
            <a:ext cx="1714500" cy="256667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5"/>
              </a:spcBef>
            </a:pPr>
            <a:r>
              <a:rPr dirty="0" sz="1850" spc="140" b="1">
                <a:solidFill>
                  <a:srgbClr val="333F6F"/>
                </a:solidFill>
                <a:latin typeface="Verdana"/>
                <a:cs typeface="Verdana"/>
              </a:rPr>
              <a:t>Library </a:t>
            </a:r>
            <a:r>
              <a:rPr dirty="0" sz="1850" spc="235" b="1">
                <a:solidFill>
                  <a:srgbClr val="333F6F"/>
                </a:solidFill>
                <a:latin typeface="Verdana"/>
                <a:cs typeface="Verdana"/>
              </a:rPr>
              <a:t>Manageme </a:t>
            </a:r>
            <a:r>
              <a:rPr dirty="0" sz="1850" spc="175" b="1">
                <a:solidFill>
                  <a:srgbClr val="333F6F"/>
                </a:solidFill>
                <a:latin typeface="Verdana"/>
                <a:cs typeface="Verdana"/>
              </a:rPr>
              <a:t>nt</a:t>
            </a:r>
            <a:endParaRPr sz="1850">
              <a:latin typeface="Verdana"/>
              <a:cs typeface="Verdana"/>
            </a:endParaRPr>
          </a:p>
          <a:p>
            <a:pPr marL="12700" marR="354965">
              <a:lnSpc>
                <a:spcPct val="136900"/>
              </a:lnSpc>
              <a:spcBef>
                <a:spcPts val="121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Add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/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Display</a:t>
            </a:r>
            <a:r>
              <a:rPr dirty="0" sz="1450" spc="5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50">
                <a:solidFill>
                  <a:srgbClr val="333F6F"/>
                </a:solidFill>
                <a:latin typeface="Open Sans"/>
                <a:cs typeface="Open Sans"/>
              </a:rPr>
              <a:t>/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Search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/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Issue</a:t>
            </a:r>
            <a:r>
              <a:rPr dirty="0" sz="1450" spc="5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50">
                <a:solidFill>
                  <a:srgbClr val="333F6F"/>
                </a:solidFill>
                <a:latin typeface="Open Sans"/>
                <a:cs typeface="Open Sans"/>
              </a:rPr>
              <a:t>/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Return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books; maintain inventory.</a:t>
            </a:r>
            <a:endParaRPr sz="1450">
              <a:latin typeface="Open Sans"/>
              <a:cs typeface="Open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1375" y="2514600"/>
            <a:ext cx="542924" cy="6857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51362" y="2503804"/>
            <a:ext cx="1667510" cy="256667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4700"/>
              </a:lnSpc>
              <a:spcBef>
                <a:spcPts val="5"/>
              </a:spcBef>
            </a:pPr>
            <a:r>
              <a:rPr dirty="0" sz="1850" spc="140" b="1">
                <a:solidFill>
                  <a:srgbClr val="333F6F"/>
                </a:solidFill>
                <a:latin typeface="Verdana"/>
                <a:cs typeface="Verdana"/>
              </a:rPr>
              <a:t>Mini</a:t>
            </a:r>
            <a:r>
              <a:rPr dirty="0" sz="1850" spc="-17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220" b="1">
                <a:solidFill>
                  <a:srgbClr val="333F6F"/>
                </a:solidFill>
                <a:latin typeface="Verdana"/>
                <a:cs typeface="Verdana"/>
              </a:rPr>
              <a:t>Game </a:t>
            </a:r>
            <a:r>
              <a:rPr dirty="0" sz="1850" spc="130" b="1">
                <a:solidFill>
                  <a:srgbClr val="333F6F"/>
                </a:solidFill>
                <a:latin typeface="Verdana"/>
                <a:cs typeface="Verdana"/>
              </a:rPr>
              <a:t>Developme </a:t>
            </a:r>
            <a:r>
              <a:rPr dirty="0" sz="1850" spc="175" b="1">
                <a:solidFill>
                  <a:srgbClr val="333F6F"/>
                </a:solidFill>
                <a:latin typeface="Verdana"/>
                <a:cs typeface="Verdana"/>
              </a:rPr>
              <a:t>nt</a:t>
            </a:r>
            <a:endParaRPr sz="1850">
              <a:latin typeface="Verdana"/>
              <a:cs typeface="Verdana"/>
            </a:endParaRPr>
          </a:p>
          <a:p>
            <a:pPr marL="12700" marR="57150">
              <a:lnSpc>
                <a:spcPct val="136900"/>
              </a:lnSpc>
              <a:spcBef>
                <a:spcPts val="121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Tic</a:t>
            </a:r>
            <a:r>
              <a:rPr dirty="0" sz="1450" spc="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Tac</a:t>
            </a:r>
            <a:r>
              <a:rPr dirty="0" sz="1450" spc="4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Toe:</a:t>
            </a:r>
            <a:r>
              <a:rPr dirty="0" sz="1450" spc="4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board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logic,</a:t>
            </a:r>
            <a:r>
              <a:rPr dirty="0" sz="1450" spc="4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win/draw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checks.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Snake: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movement,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food,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collision,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scoring.</a:t>
            </a:r>
            <a:endParaRPr sz="1450">
              <a:latin typeface="Open Sans"/>
              <a:cs typeface="Open San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2698" y="3009899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2698" y="3371849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2698" y="3743324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23359" y="2399029"/>
            <a:ext cx="4313555" cy="1499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45" b="1">
                <a:solidFill>
                  <a:srgbClr val="333F6F"/>
                </a:solidFill>
                <a:latin typeface="Verdana"/>
                <a:cs typeface="Verdana"/>
              </a:rPr>
              <a:t>Learning</a:t>
            </a:r>
            <a:r>
              <a:rPr dirty="0" sz="1850" spc="-175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10" b="1">
                <a:solidFill>
                  <a:srgbClr val="333F6F"/>
                </a:solidFill>
                <a:latin typeface="Verdana"/>
                <a:cs typeface="Verdana"/>
              </a:rPr>
              <a:t>Highlights</a:t>
            </a:r>
            <a:endParaRPr sz="1850">
              <a:latin typeface="Verdana"/>
              <a:cs typeface="Verdana"/>
            </a:endParaRPr>
          </a:p>
          <a:p>
            <a:pPr marL="314960" marR="5080">
              <a:lnSpc>
                <a:spcPct val="165900"/>
              </a:lnSpc>
              <a:spcBef>
                <a:spcPts val="70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Data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modeling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for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records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inventories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Real-time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state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updates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for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interactive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games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Testing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edge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cases</a:t>
            </a:r>
            <a:r>
              <a:rPr dirty="0" sz="1450" spc="7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user</a:t>
            </a:r>
            <a:r>
              <a:rPr dirty="0" sz="1450" spc="6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inputs</a:t>
            </a:r>
            <a:endParaRPr sz="1450">
              <a:latin typeface="Open Sans"/>
              <a:cs typeface="Open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34123" y="4143374"/>
            <a:ext cx="5210175" cy="1038225"/>
            <a:chOff x="6334123" y="4143374"/>
            <a:chExt cx="5210175" cy="1038225"/>
          </a:xfrm>
        </p:grpSpPr>
        <p:sp>
          <p:nvSpPr>
            <p:cNvPr id="12" name="object 12"/>
            <p:cNvSpPr/>
            <p:nvPr/>
          </p:nvSpPr>
          <p:spPr>
            <a:xfrm>
              <a:off x="6334123" y="4143374"/>
              <a:ext cx="5210175" cy="1038225"/>
            </a:xfrm>
            <a:custGeom>
              <a:avLst/>
              <a:gdLst/>
              <a:ahLst/>
              <a:cxnLst/>
              <a:rect l="l" t="t" r="r" b="b"/>
              <a:pathLst>
                <a:path w="5210175" h="1038225">
                  <a:moveTo>
                    <a:pt x="5148361" y="1038224"/>
                  </a:moveTo>
                  <a:lnTo>
                    <a:pt x="61814" y="1038224"/>
                  </a:lnTo>
                  <a:lnTo>
                    <a:pt x="57511" y="1037800"/>
                  </a:lnTo>
                  <a:lnTo>
                    <a:pt x="22448" y="1021918"/>
                  </a:lnTo>
                  <a:lnTo>
                    <a:pt x="2117" y="989233"/>
                  </a:lnTo>
                  <a:lnTo>
                    <a:pt x="0" y="976410"/>
                  </a:lnTo>
                  <a:lnTo>
                    <a:pt x="0" y="972066"/>
                  </a:lnTo>
                  <a:lnTo>
                    <a:pt x="0" y="61813"/>
                  </a:lnTo>
                  <a:lnTo>
                    <a:pt x="13562" y="25790"/>
                  </a:lnTo>
                  <a:lnTo>
                    <a:pt x="44853" y="3373"/>
                  </a:lnTo>
                  <a:lnTo>
                    <a:pt x="61814" y="0"/>
                  </a:lnTo>
                  <a:lnTo>
                    <a:pt x="5148361" y="0"/>
                  </a:lnTo>
                  <a:lnTo>
                    <a:pt x="5184383" y="13562"/>
                  </a:lnTo>
                  <a:lnTo>
                    <a:pt x="5206798" y="44853"/>
                  </a:lnTo>
                  <a:lnTo>
                    <a:pt x="5210174" y="61813"/>
                  </a:lnTo>
                  <a:lnTo>
                    <a:pt x="5210174" y="976410"/>
                  </a:lnTo>
                  <a:lnTo>
                    <a:pt x="5196610" y="1012433"/>
                  </a:lnTo>
                  <a:lnTo>
                    <a:pt x="5165320" y="1034850"/>
                  </a:lnTo>
                  <a:lnTo>
                    <a:pt x="5152663" y="1037800"/>
                  </a:lnTo>
                  <a:lnTo>
                    <a:pt x="5148361" y="1038224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60027" y="4440937"/>
              <a:ext cx="165385" cy="16538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937573" y="4301819"/>
            <a:ext cx="3882390" cy="635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dirty="0" sz="1450">
                <a:latin typeface="Open Sans"/>
                <a:cs typeface="Open Sans"/>
              </a:rPr>
              <a:t>Placeholders:</a:t>
            </a:r>
            <a:r>
              <a:rPr dirty="0" sz="1450" spc="10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code</a:t>
            </a:r>
            <a:r>
              <a:rPr dirty="0" sz="1450" spc="11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snippet</a:t>
            </a:r>
            <a:r>
              <a:rPr dirty="0" sz="1450" spc="11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screenshots</a:t>
            </a:r>
            <a:r>
              <a:rPr dirty="0" sz="1450" spc="110">
                <a:latin typeface="Open Sans"/>
                <a:cs typeface="Open Sans"/>
              </a:rPr>
              <a:t> </a:t>
            </a:r>
            <a:r>
              <a:rPr dirty="0" sz="1450" spc="-25">
                <a:latin typeface="Open Sans"/>
                <a:cs typeface="Open Sans"/>
              </a:rPr>
              <a:t>and </a:t>
            </a:r>
            <a:r>
              <a:rPr dirty="0" sz="1450">
                <a:latin typeface="Open Sans"/>
                <a:cs typeface="Open Sans"/>
              </a:rPr>
              <a:t>gameplay</a:t>
            </a:r>
            <a:r>
              <a:rPr dirty="0" sz="1450" spc="114">
                <a:latin typeface="Open Sans"/>
                <a:cs typeface="Open Sans"/>
              </a:rPr>
              <a:t> </a:t>
            </a:r>
            <a:r>
              <a:rPr dirty="0" sz="1450" spc="-20">
                <a:latin typeface="Open Sans"/>
                <a:cs typeface="Open Sans"/>
              </a:rPr>
              <a:t>GIFs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9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40"/>
              <a:t>Skills</a:t>
            </a:r>
            <a:r>
              <a:rPr dirty="0" spc="-275"/>
              <a:t> </a:t>
            </a:r>
            <a:r>
              <a:rPr dirty="0" spc="215"/>
              <a:t>Developed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57224" y="2457449"/>
            <a:ext cx="10877550" cy="2790825"/>
            <a:chOff x="657224" y="2457449"/>
            <a:chExt cx="10877550" cy="2790825"/>
          </a:xfrm>
        </p:grpSpPr>
        <p:sp>
          <p:nvSpPr>
            <p:cNvPr id="4" name="object 4"/>
            <p:cNvSpPr/>
            <p:nvPr/>
          </p:nvSpPr>
          <p:spPr>
            <a:xfrm>
              <a:off x="661987" y="2462212"/>
              <a:ext cx="10868025" cy="2781300"/>
            </a:xfrm>
            <a:custGeom>
              <a:avLst/>
              <a:gdLst/>
              <a:ahLst/>
              <a:cxnLst/>
              <a:rect l="l" t="t" r="r" b="b"/>
              <a:pathLst>
                <a:path w="10868025" h="2781300">
                  <a:moveTo>
                    <a:pt x="10810660" y="2781299"/>
                  </a:moveTo>
                  <a:lnTo>
                    <a:pt x="57364" y="2781299"/>
                  </a:lnTo>
                  <a:lnTo>
                    <a:pt x="53371" y="2780906"/>
                  </a:lnTo>
                  <a:lnTo>
                    <a:pt x="15131" y="2760466"/>
                  </a:lnTo>
                  <a:lnTo>
                    <a:pt x="0" y="2723935"/>
                  </a:lnTo>
                  <a:lnTo>
                    <a:pt x="0" y="2719904"/>
                  </a:lnTo>
                  <a:lnTo>
                    <a:pt x="0" y="57364"/>
                  </a:lnTo>
                  <a:lnTo>
                    <a:pt x="15131" y="20832"/>
                  </a:lnTo>
                  <a:lnTo>
                    <a:pt x="53371" y="393"/>
                  </a:lnTo>
                  <a:lnTo>
                    <a:pt x="57364" y="0"/>
                  </a:lnTo>
                  <a:lnTo>
                    <a:pt x="10810660" y="0"/>
                  </a:lnTo>
                  <a:lnTo>
                    <a:pt x="10847190" y="15131"/>
                  </a:lnTo>
                  <a:lnTo>
                    <a:pt x="10867628" y="53371"/>
                  </a:lnTo>
                  <a:lnTo>
                    <a:pt x="10868022" y="57364"/>
                  </a:lnTo>
                  <a:lnTo>
                    <a:pt x="10868022" y="2723935"/>
                  </a:lnTo>
                  <a:lnTo>
                    <a:pt x="10852891" y="2760466"/>
                  </a:lnTo>
                  <a:lnTo>
                    <a:pt x="10814651" y="2780906"/>
                  </a:lnTo>
                  <a:lnTo>
                    <a:pt x="10810660" y="2781299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1987" y="2462212"/>
              <a:ext cx="10868025" cy="2781300"/>
            </a:xfrm>
            <a:custGeom>
              <a:avLst/>
              <a:gdLst/>
              <a:ahLst/>
              <a:cxnLst/>
              <a:rect l="l" t="t" r="r" b="b"/>
              <a:pathLst>
                <a:path w="10868025" h="2781300">
                  <a:moveTo>
                    <a:pt x="0" y="2719904"/>
                  </a:moveTo>
                  <a:lnTo>
                    <a:pt x="0" y="61395"/>
                  </a:lnTo>
                  <a:lnTo>
                    <a:pt x="0" y="57364"/>
                  </a:lnTo>
                  <a:lnTo>
                    <a:pt x="393" y="53371"/>
                  </a:lnTo>
                  <a:lnTo>
                    <a:pt x="17982" y="17982"/>
                  </a:lnTo>
                  <a:lnTo>
                    <a:pt x="20832" y="15131"/>
                  </a:lnTo>
                  <a:lnTo>
                    <a:pt x="23934" y="12586"/>
                  </a:lnTo>
                  <a:lnTo>
                    <a:pt x="27285" y="10346"/>
                  </a:lnTo>
                  <a:lnTo>
                    <a:pt x="30637" y="8106"/>
                  </a:lnTo>
                  <a:lnTo>
                    <a:pt x="57364" y="0"/>
                  </a:lnTo>
                  <a:lnTo>
                    <a:pt x="61395" y="0"/>
                  </a:lnTo>
                  <a:lnTo>
                    <a:pt x="10806629" y="0"/>
                  </a:lnTo>
                  <a:lnTo>
                    <a:pt x="10810660" y="0"/>
                  </a:lnTo>
                  <a:lnTo>
                    <a:pt x="10814651" y="393"/>
                  </a:lnTo>
                  <a:lnTo>
                    <a:pt x="10850041" y="17982"/>
                  </a:lnTo>
                  <a:lnTo>
                    <a:pt x="10857675" y="27285"/>
                  </a:lnTo>
                  <a:lnTo>
                    <a:pt x="10859915" y="30637"/>
                  </a:lnTo>
                  <a:lnTo>
                    <a:pt x="10868024" y="61395"/>
                  </a:lnTo>
                  <a:lnTo>
                    <a:pt x="10868024" y="2719904"/>
                  </a:lnTo>
                  <a:lnTo>
                    <a:pt x="10855436" y="2757365"/>
                  </a:lnTo>
                  <a:lnTo>
                    <a:pt x="10840737" y="2770951"/>
                  </a:lnTo>
                  <a:lnTo>
                    <a:pt x="10837385" y="2773191"/>
                  </a:lnTo>
                  <a:lnTo>
                    <a:pt x="10806629" y="2781299"/>
                  </a:lnTo>
                  <a:lnTo>
                    <a:pt x="61395" y="2781299"/>
                  </a:lnTo>
                  <a:lnTo>
                    <a:pt x="27285" y="2770951"/>
                  </a:lnTo>
                  <a:lnTo>
                    <a:pt x="23934" y="2768712"/>
                  </a:lnTo>
                  <a:lnTo>
                    <a:pt x="20832" y="2766167"/>
                  </a:lnTo>
                  <a:lnTo>
                    <a:pt x="17982" y="2763317"/>
                  </a:lnTo>
                  <a:lnTo>
                    <a:pt x="15131" y="2760466"/>
                  </a:lnTo>
                  <a:lnTo>
                    <a:pt x="12586" y="2757365"/>
                  </a:lnTo>
                  <a:lnTo>
                    <a:pt x="10346" y="2754012"/>
                  </a:lnTo>
                  <a:lnTo>
                    <a:pt x="8107" y="2750660"/>
                  </a:lnTo>
                  <a:lnTo>
                    <a:pt x="1179" y="2731881"/>
                  </a:lnTo>
                  <a:lnTo>
                    <a:pt x="393" y="2727927"/>
                  </a:lnTo>
                  <a:lnTo>
                    <a:pt x="0" y="2723935"/>
                  </a:lnTo>
                  <a:lnTo>
                    <a:pt x="0" y="2719904"/>
                  </a:lnTo>
                  <a:close/>
                </a:path>
              </a:pathLst>
            </a:custGeom>
            <a:ln w="9524">
              <a:solidFill>
                <a:srgbClr val="BCDA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66737" y="2466974"/>
              <a:ext cx="10858500" cy="1685925"/>
            </a:xfrm>
            <a:custGeom>
              <a:avLst/>
              <a:gdLst/>
              <a:ahLst/>
              <a:cxnLst/>
              <a:rect l="l" t="t" r="r" b="b"/>
              <a:pathLst>
                <a:path w="10858500" h="1685925">
                  <a:moveTo>
                    <a:pt x="10858500" y="61823"/>
                  </a:moveTo>
                  <a:lnTo>
                    <a:pt x="10844936" y="25793"/>
                  </a:lnTo>
                  <a:lnTo>
                    <a:pt x="10813656" y="3378"/>
                  </a:lnTo>
                  <a:lnTo>
                    <a:pt x="10796689" y="0"/>
                  </a:lnTo>
                  <a:lnTo>
                    <a:pt x="8143875" y="0"/>
                  </a:lnTo>
                  <a:lnTo>
                    <a:pt x="5429250" y="0"/>
                  </a:lnTo>
                  <a:lnTo>
                    <a:pt x="2714625" y="0"/>
                  </a:lnTo>
                  <a:lnTo>
                    <a:pt x="61823" y="0"/>
                  </a:lnTo>
                  <a:lnTo>
                    <a:pt x="57518" y="431"/>
                  </a:lnTo>
                  <a:lnTo>
                    <a:pt x="22453" y="16306"/>
                  </a:lnTo>
                  <a:lnTo>
                    <a:pt x="2120" y="48996"/>
                  </a:lnTo>
                  <a:lnTo>
                    <a:pt x="0" y="61823"/>
                  </a:lnTo>
                  <a:lnTo>
                    <a:pt x="0" y="1685925"/>
                  </a:lnTo>
                  <a:lnTo>
                    <a:pt x="2714625" y="1685925"/>
                  </a:lnTo>
                  <a:lnTo>
                    <a:pt x="5429250" y="1685925"/>
                  </a:lnTo>
                  <a:lnTo>
                    <a:pt x="8143875" y="1685925"/>
                  </a:lnTo>
                  <a:lnTo>
                    <a:pt x="10858500" y="1685925"/>
                  </a:lnTo>
                  <a:lnTo>
                    <a:pt x="10858500" y="61823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66749" y="2457450"/>
          <a:ext cx="10934700" cy="1694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4150"/>
                <a:gridCol w="2714625"/>
                <a:gridCol w="2714625"/>
                <a:gridCol w="2705100"/>
              </a:tblGrid>
              <a:tr h="893444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dirty="0" sz="1850" spc="-2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C++</a:t>
                      </a:r>
                      <a:endParaRPr sz="1850">
                        <a:latin typeface="Verdana"/>
                        <a:cs typeface="Verdana"/>
                      </a:endParaRPr>
                    </a:p>
                    <a:p>
                      <a:pPr marL="1930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1850" spc="15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B="0" marT="193675">
                    <a:lnR w="19050">
                      <a:solidFill>
                        <a:srgbClr val="BCDA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dirty="0" sz="1850" spc="18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OOP</a:t>
                      </a:r>
                      <a:r>
                        <a:rPr dirty="0" sz="1850" spc="-22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50" spc="140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1850" spc="-24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50" spc="13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Design</a:t>
                      </a:r>
                      <a:endParaRPr sz="1850">
                        <a:latin typeface="Verdana"/>
                        <a:cs typeface="Verdana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Classes,</a:t>
                      </a:r>
                      <a:r>
                        <a:rPr dirty="0" sz="1450" spc="105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 spc="-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encapsulation,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193675">
                    <a:lnL w="19050">
                      <a:solidFill>
                        <a:srgbClr val="BCDAD4"/>
                      </a:solidFill>
                      <a:prstDash val="solid"/>
                    </a:lnL>
                    <a:lnR w="19050">
                      <a:solidFill>
                        <a:srgbClr val="BCDAD4"/>
                      </a:solidFill>
                      <a:prstDash val="solid"/>
                    </a:lnR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179070" marR="643255">
                        <a:lnSpc>
                          <a:spcPct val="104700"/>
                        </a:lnSpc>
                        <a:spcBef>
                          <a:spcPts val="1420"/>
                        </a:spcBef>
                      </a:pPr>
                      <a:r>
                        <a:rPr dirty="0" sz="1850" spc="150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Debugging</a:t>
                      </a:r>
                      <a:r>
                        <a:rPr dirty="0" sz="1850" spc="-160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850" spc="90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&amp; </a:t>
                      </a:r>
                      <a:r>
                        <a:rPr dirty="0" sz="1850" spc="12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Testing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B="0" marT="180340">
                    <a:lnL w="19050">
                      <a:solidFill>
                        <a:srgbClr val="BCDAD4"/>
                      </a:solidFill>
                      <a:prstDash val="solid"/>
                    </a:lnL>
                    <a:lnR w="19050">
                      <a:solidFill>
                        <a:srgbClr val="BCDAD4"/>
                      </a:solidFill>
                      <a:prstDash val="solid"/>
                    </a:lnR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177165" marR="1288415">
                        <a:lnSpc>
                          <a:spcPct val="104700"/>
                        </a:lnSpc>
                        <a:spcBef>
                          <a:spcPts val="1420"/>
                        </a:spcBef>
                      </a:pPr>
                      <a:r>
                        <a:rPr dirty="0" sz="1850" spc="125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Problem </a:t>
                      </a:r>
                      <a:r>
                        <a:rPr dirty="0" sz="1850" spc="114" b="1">
                          <a:solidFill>
                            <a:srgbClr val="333F6F"/>
                          </a:solidFill>
                          <a:latin typeface="Verdana"/>
                          <a:cs typeface="Verdana"/>
                        </a:rPr>
                        <a:t>Solving</a:t>
                      </a:r>
                      <a:endParaRPr sz="1850">
                        <a:latin typeface="Verdana"/>
                        <a:cs typeface="Verdana"/>
                      </a:endParaRPr>
                    </a:p>
                  </a:txBody>
                  <a:tcPr marL="0" marR="0" marB="0" marT="180340">
                    <a:lnL w="19050">
                      <a:solidFill>
                        <a:srgbClr val="BCDAD4"/>
                      </a:solidFill>
                      <a:prstDash val="solid"/>
                    </a:ln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Syntax,</a:t>
                      </a:r>
                      <a:r>
                        <a:rPr dirty="0" sz="1450" spc="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STL</a:t>
                      </a:r>
                      <a:r>
                        <a:rPr dirty="0" sz="1450" spc="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 spc="-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basics,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36830">
                    <a:lnR w="19050">
                      <a:solidFill>
                        <a:srgbClr val="BCDA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modular</a:t>
                      </a:r>
                      <a:r>
                        <a:rPr dirty="0" sz="1450" spc="105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 spc="-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design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BCDAD4"/>
                      </a:solidFill>
                      <a:prstDash val="solid"/>
                    </a:lnL>
                    <a:lnR w="19050">
                      <a:solidFill>
                        <a:srgbClr val="BCDAD4"/>
                      </a:solidFill>
                      <a:prstDash val="solid"/>
                    </a:lnR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Stepwise</a:t>
                      </a:r>
                      <a:r>
                        <a:rPr dirty="0" sz="1450" spc="10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debugging</a:t>
                      </a:r>
                      <a:r>
                        <a:rPr dirty="0" sz="1450" spc="105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 spc="-25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and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BCDAD4"/>
                      </a:solidFill>
                      <a:prstDash val="solid"/>
                    </a:lnL>
                    <a:lnR w="19050">
                      <a:solidFill>
                        <a:srgbClr val="BCDAD4"/>
                      </a:solidFill>
                      <a:prstDash val="solid"/>
                    </a:lnR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Algorithmic</a:t>
                      </a:r>
                      <a:r>
                        <a:rPr dirty="0" sz="1450" spc="1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thinking</a:t>
                      </a:r>
                      <a:r>
                        <a:rPr dirty="0" sz="1450" spc="1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 spc="-25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and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BCDAD4"/>
                      </a:solidFill>
                      <a:prstDash val="solid"/>
                    </a:lnL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memory</a:t>
                      </a:r>
                      <a:r>
                        <a:rPr dirty="0" sz="1450" spc="95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 spc="-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awareness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36830">
                    <a:lnR w="19050">
                      <a:solidFill>
                        <a:srgbClr val="BCDAD4"/>
                      </a:solidFill>
                      <a:prstDash val="solid"/>
                    </a:lnR>
                    <a:lnB w="19050">
                      <a:solidFill>
                        <a:srgbClr val="BCDA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BCDAD4"/>
                      </a:solidFill>
                      <a:prstDash val="solid"/>
                    </a:lnL>
                    <a:lnR w="19050">
                      <a:solidFill>
                        <a:srgbClr val="BCDAD4"/>
                      </a:solidFill>
                      <a:prstDash val="solid"/>
                    </a:lnR>
                    <a:lnB w="19050">
                      <a:solidFill>
                        <a:srgbClr val="BCDAD4"/>
                      </a:solidFill>
                      <a:prstDash val="soli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edge-case</a:t>
                      </a:r>
                      <a:r>
                        <a:rPr dirty="0" sz="1450" spc="1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450" spc="-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checks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BCDAD4"/>
                      </a:solidFill>
                      <a:prstDash val="solid"/>
                    </a:lnL>
                    <a:lnR w="19050">
                      <a:solidFill>
                        <a:srgbClr val="BCDAD4"/>
                      </a:solidFill>
                      <a:prstDash val="solid"/>
                    </a:lnR>
                    <a:lnB w="19050">
                      <a:solidFill>
                        <a:srgbClr val="BCDAD4"/>
                      </a:solidFill>
                      <a:prstDash val="soli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50" spc="-10">
                          <a:solidFill>
                            <a:srgbClr val="333F6F"/>
                          </a:solidFill>
                          <a:latin typeface="Open Sans"/>
                          <a:cs typeface="Open Sans"/>
                        </a:rPr>
                        <a:t>optimization</a:t>
                      </a:r>
                      <a:endParaRPr sz="1450">
                        <a:latin typeface="Open Sans"/>
                        <a:cs typeface="Open Sans"/>
                      </a:endParaRPr>
                    </a:p>
                  </a:txBody>
                  <a:tcPr marL="0" marR="0" marB="0" marT="36830">
                    <a:lnL w="19050">
                      <a:solidFill>
                        <a:srgbClr val="BCDAD4"/>
                      </a:solidFill>
                      <a:prstDash val="solid"/>
                    </a:lnL>
                    <a:lnB w="19050">
                      <a:solidFill>
                        <a:srgbClr val="BCDAD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66749" y="4152899"/>
            <a:ext cx="10858500" cy="1085850"/>
          </a:xfrm>
          <a:custGeom>
            <a:avLst/>
            <a:gdLst/>
            <a:ahLst/>
            <a:cxnLst/>
            <a:rect l="l" t="t" r="r" b="b"/>
            <a:pathLst>
              <a:path w="10858500" h="1085850">
                <a:moveTo>
                  <a:pt x="10796684" y="1085849"/>
                </a:moveTo>
                <a:lnTo>
                  <a:pt x="61814" y="1085849"/>
                </a:lnTo>
                <a:lnTo>
                  <a:pt x="57511" y="1085426"/>
                </a:lnTo>
                <a:lnTo>
                  <a:pt x="22448" y="1069543"/>
                </a:lnTo>
                <a:lnTo>
                  <a:pt x="2118" y="1036858"/>
                </a:lnTo>
                <a:lnTo>
                  <a:pt x="0" y="1024035"/>
                </a:lnTo>
                <a:lnTo>
                  <a:pt x="0" y="1019691"/>
                </a:lnTo>
                <a:lnTo>
                  <a:pt x="0" y="0"/>
                </a:lnTo>
                <a:lnTo>
                  <a:pt x="10858499" y="0"/>
                </a:lnTo>
                <a:lnTo>
                  <a:pt x="10858497" y="1024035"/>
                </a:lnTo>
                <a:lnTo>
                  <a:pt x="10844933" y="1060059"/>
                </a:lnTo>
                <a:lnTo>
                  <a:pt x="10813643" y="1082475"/>
                </a:lnTo>
                <a:lnTo>
                  <a:pt x="10800986" y="1085426"/>
                </a:lnTo>
                <a:lnTo>
                  <a:pt x="10796684" y="1085849"/>
                </a:lnTo>
                <a:close/>
              </a:path>
            </a:pathLst>
          </a:custGeom>
          <a:solidFill>
            <a:srgbClr val="D5F5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47377" y="4332604"/>
            <a:ext cx="4335145" cy="690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55" b="1">
                <a:solidFill>
                  <a:srgbClr val="333F6F"/>
                </a:solidFill>
                <a:latin typeface="Verdana"/>
                <a:cs typeface="Verdana"/>
              </a:rPr>
              <a:t>Professional</a:t>
            </a:r>
            <a:r>
              <a:rPr dirty="0" sz="1850" spc="-16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70" b="1">
                <a:solidFill>
                  <a:srgbClr val="333F6F"/>
                </a:solidFill>
                <a:latin typeface="Verdana"/>
                <a:cs typeface="Verdana"/>
              </a:rPr>
              <a:t>Skills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Time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management,</a:t>
            </a:r>
            <a:r>
              <a:rPr dirty="0" sz="1450" spc="12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self-learning,</a:t>
            </a:r>
            <a:r>
              <a:rPr dirty="0" sz="1450" spc="12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communication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60"/>
              <a:t>Challenges</a:t>
            </a:r>
            <a:r>
              <a:rPr dirty="0" spc="-265"/>
              <a:t> </a:t>
            </a:r>
            <a:r>
              <a:rPr dirty="0" spc="225"/>
              <a:t>&amp;</a:t>
            </a:r>
            <a:r>
              <a:rPr dirty="0" spc="-385"/>
              <a:t> </a:t>
            </a:r>
            <a:r>
              <a:rPr dirty="0" spc="229"/>
              <a:t>Solutions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2819399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3190874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3562349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3924299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8840" y="2208529"/>
            <a:ext cx="3578225" cy="1871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45" b="1">
                <a:solidFill>
                  <a:srgbClr val="333F6F"/>
                </a:solidFill>
                <a:latin typeface="Verdana"/>
                <a:cs typeface="Verdana"/>
              </a:rPr>
              <a:t>Challenges</a:t>
            </a:r>
            <a:endParaRPr sz="1850">
              <a:latin typeface="Verdana"/>
              <a:cs typeface="Verdana"/>
            </a:endParaRPr>
          </a:p>
          <a:p>
            <a:pPr marL="314960" marR="5080">
              <a:lnSpc>
                <a:spcPct val="166700"/>
              </a:lnSpc>
              <a:spcBef>
                <a:spcPts val="69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Designing</a:t>
            </a:r>
            <a:r>
              <a:rPr dirty="0" sz="1450" spc="9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clear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program</a:t>
            </a:r>
            <a:r>
              <a:rPr dirty="0" sz="1450" spc="9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logic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Handling</a:t>
            </a:r>
            <a:r>
              <a:rPr dirty="0" sz="1450" spc="8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invalid</a:t>
            </a:r>
            <a:r>
              <a:rPr dirty="0" sz="1450" spc="8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or</a:t>
            </a:r>
            <a:r>
              <a:rPr dirty="0" sz="1450" spc="8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unexpected</a:t>
            </a:r>
            <a:r>
              <a:rPr dirty="0" sz="1450" spc="8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input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Debugging</a:t>
            </a:r>
            <a:r>
              <a:rPr dirty="0" sz="1450" spc="13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multi-function</a:t>
            </a:r>
            <a:r>
              <a:rPr dirty="0" sz="1450" spc="13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20">
                <a:solidFill>
                  <a:srgbClr val="333F6F"/>
                </a:solidFill>
                <a:latin typeface="Open Sans"/>
                <a:cs typeface="Open Sans"/>
              </a:rPr>
              <a:t>flows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Managing</a:t>
            </a:r>
            <a:r>
              <a:rPr dirty="0" sz="1450" spc="114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file-based</a:t>
            </a:r>
            <a:r>
              <a:rPr dirty="0" sz="1450" spc="12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persistence</a:t>
            </a:r>
            <a:endParaRPr sz="1450">
              <a:latin typeface="Open Sans"/>
              <a:cs typeface="Open San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2819399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3190874"/>
            <a:ext cx="66675" cy="666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3562349"/>
            <a:ext cx="66675" cy="666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698" y="3924299"/>
            <a:ext cx="66675" cy="6667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334123" y="4324349"/>
            <a:ext cx="5210175" cy="1047750"/>
            <a:chOff x="6334123" y="4324349"/>
            <a:chExt cx="5210175" cy="1047750"/>
          </a:xfrm>
        </p:grpSpPr>
        <p:sp>
          <p:nvSpPr>
            <p:cNvPr id="13" name="object 13"/>
            <p:cNvSpPr/>
            <p:nvPr/>
          </p:nvSpPr>
          <p:spPr>
            <a:xfrm>
              <a:off x="6334123" y="4324349"/>
              <a:ext cx="5210175" cy="1047750"/>
            </a:xfrm>
            <a:custGeom>
              <a:avLst/>
              <a:gdLst/>
              <a:ahLst/>
              <a:cxnLst/>
              <a:rect l="l" t="t" r="r" b="b"/>
              <a:pathLst>
                <a:path w="5210175" h="1047750">
                  <a:moveTo>
                    <a:pt x="5148361" y="1047749"/>
                  </a:moveTo>
                  <a:lnTo>
                    <a:pt x="61814" y="1047749"/>
                  </a:lnTo>
                  <a:lnTo>
                    <a:pt x="57511" y="1047325"/>
                  </a:lnTo>
                  <a:lnTo>
                    <a:pt x="22448" y="1031443"/>
                  </a:lnTo>
                  <a:lnTo>
                    <a:pt x="2117" y="998758"/>
                  </a:lnTo>
                  <a:lnTo>
                    <a:pt x="0" y="985935"/>
                  </a:lnTo>
                  <a:lnTo>
                    <a:pt x="0" y="981591"/>
                  </a:lnTo>
                  <a:lnTo>
                    <a:pt x="0" y="61813"/>
                  </a:lnTo>
                  <a:lnTo>
                    <a:pt x="13562" y="25790"/>
                  </a:lnTo>
                  <a:lnTo>
                    <a:pt x="44853" y="3373"/>
                  </a:lnTo>
                  <a:lnTo>
                    <a:pt x="61814" y="0"/>
                  </a:lnTo>
                  <a:lnTo>
                    <a:pt x="5148361" y="0"/>
                  </a:lnTo>
                  <a:lnTo>
                    <a:pt x="5184383" y="13563"/>
                  </a:lnTo>
                  <a:lnTo>
                    <a:pt x="5206798" y="44853"/>
                  </a:lnTo>
                  <a:lnTo>
                    <a:pt x="5210174" y="61813"/>
                  </a:lnTo>
                  <a:lnTo>
                    <a:pt x="5210174" y="985935"/>
                  </a:lnTo>
                  <a:lnTo>
                    <a:pt x="5196610" y="1021958"/>
                  </a:lnTo>
                  <a:lnTo>
                    <a:pt x="5165320" y="1044375"/>
                  </a:lnTo>
                  <a:lnTo>
                    <a:pt x="5152663" y="1047325"/>
                  </a:lnTo>
                  <a:lnTo>
                    <a:pt x="5148361" y="1047749"/>
                  </a:lnTo>
                  <a:close/>
                </a:path>
              </a:pathLst>
            </a:custGeom>
            <a:solidFill>
              <a:srgbClr val="D5F5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0027" y="4631437"/>
              <a:ext cx="165385" cy="16538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323359" y="2208529"/>
            <a:ext cx="4791075" cy="29095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45" b="1">
                <a:solidFill>
                  <a:srgbClr val="333F6F"/>
                </a:solidFill>
                <a:latin typeface="Verdana"/>
                <a:cs typeface="Verdana"/>
              </a:rPr>
              <a:t>Solutions</a:t>
            </a:r>
            <a:r>
              <a:rPr dirty="0" sz="1850" spc="-17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40" b="1">
                <a:solidFill>
                  <a:srgbClr val="333F6F"/>
                </a:solidFill>
                <a:latin typeface="Verdana"/>
                <a:cs typeface="Verdana"/>
              </a:rPr>
              <a:t>&amp;</a:t>
            </a:r>
            <a:r>
              <a:rPr dirty="0" sz="1850" spc="-240" b="1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dirty="0" sz="1850" spc="185" b="1">
                <a:solidFill>
                  <a:srgbClr val="333F6F"/>
                </a:solidFill>
                <a:latin typeface="Verdana"/>
                <a:cs typeface="Verdana"/>
              </a:rPr>
              <a:t>Practices</a:t>
            </a:r>
            <a:endParaRPr sz="1850">
              <a:latin typeface="Verdana"/>
              <a:cs typeface="Verdana"/>
            </a:endParaRPr>
          </a:p>
          <a:p>
            <a:pPr marL="314960" marR="217170">
              <a:lnSpc>
                <a:spcPct val="168100"/>
              </a:lnSpc>
              <a:spcBef>
                <a:spcPts val="670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Modular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design: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break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tasks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into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small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functions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Input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validation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&amp;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defensive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coding</a:t>
            </a:r>
            <a:endParaRPr sz="1450">
              <a:latin typeface="Open Sans"/>
              <a:cs typeface="Open Sans"/>
            </a:endParaRPr>
          </a:p>
          <a:p>
            <a:pPr marL="314960" marR="1047115">
              <a:lnSpc>
                <a:spcPct val="163800"/>
              </a:lnSpc>
              <a:spcBef>
                <a:spcPts val="75"/>
              </a:spcBef>
            </a:pP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Use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stepwise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debugging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75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test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cases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Refactor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for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readability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>
                <a:solidFill>
                  <a:srgbClr val="333F6F"/>
                </a:solidFill>
                <a:latin typeface="Open Sans"/>
                <a:cs typeface="Open Sans"/>
              </a:rPr>
              <a:t>and</a:t>
            </a:r>
            <a:r>
              <a:rPr dirty="0" sz="1450" spc="80">
                <a:solidFill>
                  <a:srgbClr val="333F6F"/>
                </a:solidFill>
                <a:latin typeface="Open Sans"/>
                <a:cs typeface="Open Sans"/>
              </a:rPr>
              <a:t> </a:t>
            </a:r>
            <a:r>
              <a:rPr dirty="0" sz="1450" spc="-10">
                <a:solidFill>
                  <a:srgbClr val="333F6F"/>
                </a:solidFill>
                <a:latin typeface="Open Sans"/>
                <a:cs typeface="Open Sans"/>
              </a:rPr>
              <a:t>reusability</a:t>
            </a:r>
            <a:endParaRPr sz="145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450">
              <a:latin typeface="Open Sans"/>
              <a:cs typeface="Open Sans"/>
            </a:endParaRPr>
          </a:p>
          <a:p>
            <a:pPr marL="626745" marR="5080">
              <a:lnSpc>
                <a:spcPct val="137900"/>
              </a:lnSpc>
            </a:pPr>
            <a:r>
              <a:rPr dirty="0" sz="1450">
                <a:latin typeface="Open Sans"/>
                <a:cs typeface="Open Sans"/>
              </a:rPr>
              <a:t>Result:</a:t>
            </a:r>
            <a:r>
              <a:rPr dirty="0" sz="1450" spc="8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faster</a:t>
            </a:r>
            <a:r>
              <a:rPr dirty="0" sz="1450" spc="8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issue</a:t>
            </a:r>
            <a:r>
              <a:rPr dirty="0" sz="1450" spc="8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resolution</a:t>
            </a:r>
            <a:r>
              <a:rPr dirty="0" sz="1450" spc="8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and</a:t>
            </a:r>
            <a:r>
              <a:rPr dirty="0" sz="1450" spc="8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cleaner</a:t>
            </a:r>
            <a:r>
              <a:rPr dirty="0" sz="1450" spc="85">
                <a:latin typeface="Open Sans"/>
                <a:cs typeface="Open Sans"/>
              </a:rPr>
              <a:t> </a:t>
            </a:r>
            <a:r>
              <a:rPr dirty="0" sz="1450" spc="-20">
                <a:latin typeface="Open Sans"/>
                <a:cs typeface="Open Sans"/>
              </a:rPr>
              <a:t>code </a:t>
            </a:r>
            <a:r>
              <a:rPr dirty="0" sz="1450" spc="-10">
                <a:latin typeface="Open Sans"/>
                <a:cs typeface="Open Sans"/>
              </a:rPr>
              <a:t>structure.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2026-10-09T10:34:50Z</dcterms:created>
  <dcterms:modified xsi:type="dcterms:W3CDTF">2026-10-09T10:34:50Z</dcterms:modified>
  <dc:title>Sanidhya_singh_internship_summit_2026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2026-10-09T00:00:00Z</vt:filetime>
  </property>
  <property fmtid="{D5CDD505-2E9C-101B-9397-08002B2CF9AE}" pid="6" name="Producer">
    <vt:lpwstr>pdf-lib (https://github.com/Hopding/pdf-lib)</vt:lpwstr>
  </property>
</Properties>
</file>